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0d378e721f48b6" /><Relationship Type="http://schemas.openxmlformats.org/officeDocument/2006/relationships/extended-properties" Target="/docProps/app.xml" Id="Red17de64cfd642bf" /><Relationship Type="http://schemas.openxmlformats.org/officeDocument/2006/relationships/officeDocument" Target="/ppt/presentation.xml" Id="Rce850e6a88e443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6f2bfe6b0d4226"/>
  </p:sldMasterIdLst>
  <p:notesMasterIdLst>
    <p:notesMasterId xmlns:r="http://schemas.openxmlformats.org/officeDocument/2006/relationships" r:id="R7bbe1daffcca4531"/>
  </p:notesMasterIdLst>
  <p:sldIdLst>
    <p:sldId xmlns:r="http://schemas.openxmlformats.org/officeDocument/2006/relationships" id="256" r:id="R927d1799c09b4631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367">
      <a:buNone/>
      <a:defRPr sz="1765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183" algn="l" defTabSz="914367">
      <a:buNone/>
      <a:defRPr sz="1765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367" algn="l" defTabSz="914367">
      <a:buNone/>
      <a:defRPr sz="1765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550" algn="l" defTabSz="914367">
      <a:buNone/>
      <a:defRPr sz="1765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734" algn="l" defTabSz="914367">
      <a:buNone/>
      <a:defRPr sz="1765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5918" algn="l" defTabSz="914367">
      <a:buNone/>
      <a:defRPr sz="1765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101" algn="l" defTabSz="914367">
      <a:buNone/>
      <a:defRPr sz="1765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284" algn="l" defTabSz="914367">
      <a:buNone/>
      <a:defRPr sz="1765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469" algn="l" defTabSz="914367">
      <a:buNone/>
      <a:defRPr sz="1765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efb0fa43a14826" /><Relationship Type="http://schemas.openxmlformats.org/officeDocument/2006/relationships/slideMaster" Target="/ppt/slideMasters/slideMaster1.xml" Id="Rf76f2bfe6b0d4226" /><Relationship Type="http://schemas.openxmlformats.org/officeDocument/2006/relationships/notesMaster" Target="/ppt/notesMasters/notesMaster1.xml" Id="R7bbe1daffcca4531" /><Relationship Type="http://schemas.openxmlformats.org/officeDocument/2006/relationships/presProps" Target="/ppt/presProps.xml" Id="R9e831ecd85764d47" /><Relationship Type="http://schemas.openxmlformats.org/officeDocument/2006/relationships/viewProps" Target="/ppt/viewProps.xml" Id="Rd51a174dc662466f" /><Relationship Type="http://schemas.openxmlformats.org/officeDocument/2006/relationships/tableStyles" Target="/ppt/tableStyles.xml" Id="Rc9fd52b13df9495b" /><Relationship Type="http://schemas.openxmlformats.org/officeDocument/2006/relationships/slide" Target="/ppt/slides/slide1.xml" Id="R927d1799c09b46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034ead7d3943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AMD Corporate Template_Dark">
  <a:themeElements>
    <a:clrScheme name="AMD Corporate">
      <a:dk1>
        <a:srgbClr val="000000"/>
      </a:dk1>
      <a:lt1>
        <a:srgbClr val="FFFFFF"/>
      </a:lt1>
      <a:dk2>
        <a:srgbClr val="5E5E5E"/>
      </a:dk2>
      <a:lt2>
        <a:srgbClr val="9D9FA2"/>
      </a:lt2>
      <a:accent1>
        <a:srgbClr val="636466"/>
      </a:accent1>
      <a:accent2>
        <a:srgbClr val="9D9FA2"/>
      </a:accent2>
      <a:accent3>
        <a:srgbClr val="EAEAEA"/>
      </a:accent3>
      <a:accent4>
        <a:srgbClr val="F26522"/>
      </a:accent4>
      <a:accent5>
        <a:srgbClr val="ED1C24"/>
      </a:accent5>
      <a:accent6>
        <a:srgbClr val="007C97"/>
      </a:accent6>
      <a:hlink>
        <a:srgbClr val="D5D5D5"/>
      </a:hlink>
      <a:folHlink>
        <a:srgbClr val="A9A9A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MD Corporat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>
          <a:solidFill>
            <a:schemeClr val="phClr"/>
          </a:solidFill>
          <a:prstDash val="solid"/>
        </a:ln>
        <a:ln w="10795">
          <a:solidFill>
            <a:schemeClr val="phClr"/>
          </a:solidFill>
          <a:prstDash val="solid"/>
        </a:ln>
        <a:ln w="17145">
          <a:solidFill>
            <a:schemeClr val="phClr">
              <a:shade val="95000"/>
              <a:satMod val="150000"/>
              <a:alpha val="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9e35543c7f44d5" /><Relationship Type="http://schemas.openxmlformats.org/officeDocument/2006/relationships/notesMaster" Target="/ppt/notesMasters/notesMaster1.xml" Id="Rbf9653994e134c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baseline: Citlali6/VisionGrasp-Z19 main 4e51e5b60daccccb38af0b4bd327502668d9ef72.</a:t>
            </a:r>
          </a:p>
          <a:p xmlns:a="http://schemas.openxmlformats.org/drawingml/2006/main">
            <a:r>
              <a:t>Sources: README.md; docs/overview.md; docs/architecture.md; docs/CONFIGURATIONS.md; report/design_report.md; report/poster_copy_en.md; docs/competition/requirements_map.md; docs/competition/EVIDENCE_MATRIX.md; skill/README.md; report/ai_collaboration.md.</a:t>
            </a:r>
          </a:p>
          <a:p xmlns:a="http://schemas.openxmlformats.org/drawingml/2006/main">
            <a:r>
              <a:t>01: Existing VM/DOFBOT demonstration uses fixed pickup coordinates, a serial voice command module, one wake/start cycle and classification audio before grasp. This flow does not claim feedback-controlled grasping or arbitrary-position picking.</a:t>
            </a:r>
          </a:p>
          <a:p xmlns:a="http://schemas.openxmlformats.org/drawingml/2006/main">
            <a:r>
              <a:t>02: Four-function source profile, not a combined on-board measurement. PS owns CPU YOLO, Vosk, capture, coordinates and task service. PL owns RGB/HSV/ROI/first moments, candidate rules and DC/63-tap FIR. Diagram shows responsibility and communication, not time order: PS captures inputs for PL, reads processed data for semantic inference; PS service mediates VM integration. Existing demo does not use new PL candidate rules or Vosk.</a:t>
            </a:r>
          </a:p>
          <a:p xmlns:a="http://schemas.openxmlformats.org/drawingml/2006/main">
            <a:r>
              <a:t>03: Prototype artwork reuses a previously background-cleaned image of user-supplied project equipment (AI-assisted cutout). Hardware details are evidenced by the original project materials, not by the retouched visual. No new accuracy/FPS/power or end-to-end hardware result is claimed.</a:t>
            </a:r>
          </a:p>
          <a:p xmlns:a="http://schemas.openxmlformats.org/drawingml/2006/main">
            <a:r>
              <a:t>No current team-member names were confirmed; no names invented. Identity is included per current user request. This is a branded English exhibition poster; a formally anonymous competition copy would need identifying content removed.</a:t>
            </a:r>
          </a:p>
          <a:p xmlns:a="http://schemas.openxmlformats.org/drawingml/2006/main">
            <a:r>
              <a:t>Original template supplies canvas/theme/AMD asset; three-column structure reworked for the new content. Body text, workflow nodes and connections are native editable PPT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dbc02cdbeb4e7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9f5f2e9fbb4a7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515d7d0c3a467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cd482d1133450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e5d96c0fa747e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24c469d1b3432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63f7479cdb42d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369a49fc44441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f8efa8ab2748b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3ed143e6474e8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5abbda4d5a473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d2791efab14f8c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759dcbbe4c48bf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a754f0e6b943cb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c6d514cf424d3d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9db820da6a419f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2c201185104a89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813148387145cb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d0cbb2743f48c1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4ec4df591440d9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35ea2f202847c2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ef169c60e04baf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5c0f60659c4bff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0cdd6bd1ce4d8f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99d8a75e594615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152e99fa724db5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3dfcbf3a1742d3" /></Relationships>
</file>

<file path=ppt/slideLayouts/slideLayout1.xml><?xml version="1.0" encoding="utf-8"?>
<p:sldLayout xmlns:p="http://schemas.openxmlformats.org/presentationml/2006/main" showMasterSp="0" preserve="1" userDrawn="1">
  <p:cSld name="Title Slide - No Imag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hf hdr="0"/>
</p:sldLayout>
</file>

<file path=ppt/slideLayouts/slideLayout2.xml><?xml version="1.0" encoding="utf-8"?>
<p:sldLayout xmlns:p="http://schemas.openxmlformats.org/presentationml/2006/main" showMasterSp="0" preserve="1" userDrawn="1">
  <p:cSld name="Title Slide with Pictur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.xml><?xml version="1.0" encoding="utf-8"?>
<p:sldLayout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6.xml><?xml version="1.0" encoding="utf-8"?>
<p:sldLayout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 showMasterSp="0" preserve="1" userDrawn="1">
  <p:cSld name="Small title - half pag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showMasterSp="0" preserve="1" userDrawn="1">
  <p:cSld name="Title with Square Pictur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1.xml><?xml version="1.0" encoding="utf-8"?>
<p:sldLayout xmlns:p="http://schemas.openxmlformats.org/presentationml/2006/main" preserve="1" userDrawn="1">
  <p:cSld name="Product/Feature - Square Photo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2.xml><?xml version="1.0" encoding="utf-8"?>
<p:sldLayout xmlns:p="http://schemas.openxmlformats.org/presentationml/2006/main" showMasterSp="0" preserve="1" userDrawn="1">
  <p:cSld name="Top Horizontal Photo and Titl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preserve="1" userDrawn="1">
  <p:cSld name="Bottom Horizontal Photo and Titl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preserve="1" userDrawn="1">
  <p:cSld name="Two picture conten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5.xml><?xml version="1.0" encoding="utf-8"?>
<p:sldLayout xmlns:p="http://schemas.openxmlformats.org/presentationml/2006/main" preserve="1" userDrawn="1">
  <p:cSld name="Three picture conten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6.xml><?xml version="1.0" encoding="utf-8"?>
<p:sldLayout xmlns:p="http://schemas.openxmlformats.org/presentationml/2006/main" preserve="1" userDrawn="1">
  <p:cSld name="Three content with headings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7.xml><?xml version="1.0" encoding="utf-8"?>
<p:sldLayout xmlns:p="http://schemas.openxmlformats.org/presentationml/2006/main" preserve="1" userDrawn="1">
  <p:cSld name="Three Products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8.xml><?xml version="1.0" encoding="utf-8"?>
<p:sldLayout xmlns:p="http://schemas.openxmlformats.org/presentationml/2006/main" preserve="1" userDrawn="1">
  <p:cSld name="Four picture conten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9.xml><?xml version="1.0" encoding="utf-8"?>
<p:sldLayout xmlns:p="http://schemas.openxmlformats.org/presentationml/2006/main" preserve="1" userDrawn="1">
  <p:cSld name="Scorecard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0.xml><?xml version="1.0" encoding="utf-8"?>
<p:sldLayout xmlns:p="http://schemas.openxmlformats.org/presentationml/2006/main" preserve="1" userDrawn="1">
  <p:cSld name="Screenshot and caption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1.xml><?xml version="1.0" encoding="utf-8"?>
<p:sldLayout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2.xml><?xml version="1.0" encoding="utf-8"?>
<p:sldLayout xmlns:p="http://schemas.openxmlformats.org/presentationml/2006/main" preserve="1" userDrawn="1">
  <p:cSld name="Title and text side by side 2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3.xml><?xml version="1.0" encoding="utf-8"?>
<p:sldLayout xmlns:p="http://schemas.openxmlformats.org/presentationml/2006/main" showMasterSp="0" preserve="1" userDrawn="1">
  <p:cSld name="Demo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4.xml><?xml version="1.0" encoding="utf-8"?>
<p:sldLayout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5.xml><?xml version="1.0" encoding="utf-8"?>
<p:sldLayout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6.xml><?xml version="1.0" encoding="utf-8"?>
<p:sldLayout xmlns:p="http://schemas.openxmlformats.org/presentationml/2006/main" preserve="1" userDrawn="1">
  <p:cSld name="Disclaimer and Attribution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7.xml><?xml version="1.0" encoding="utf-8"?>
<p:sldLayout xmlns:p="http://schemas.openxmlformats.org/presentationml/2006/main" showMasterSp="0" preserve="1" userDrawn="1">
  <p:cSld name="Closing logo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66ed06c78f41fd" /><Relationship Type="http://schemas.openxmlformats.org/officeDocument/2006/relationships/slideLayout" Target="/ppt/slideLayouts/slideLayout1.xml" Id="R4a6eb9033d7a49ea" /><Relationship Type="http://schemas.openxmlformats.org/officeDocument/2006/relationships/slideLayout" Target="/ppt/slideLayouts/slideLayout2.xml" Id="Rc5c0ecbcad9c4aed" /><Relationship Type="http://schemas.openxmlformats.org/officeDocument/2006/relationships/slideLayout" Target="/ppt/slideLayouts/slideLayout3.xml" Id="Rda38c02efb124a3b" /><Relationship Type="http://schemas.openxmlformats.org/officeDocument/2006/relationships/slideLayout" Target="/ppt/slideLayouts/slideLayout4.xml" Id="Raea4f02b15d4463e" /><Relationship Type="http://schemas.openxmlformats.org/officeDocument/2006/relationships/slideLayout" Target="/ppt/slideLayouts/slideLayout5.xml" Id="Rb224eb95d82947e9" /><Relationship Type="http://schemas.openxmlformats.org/officeDocument/2006/relationships/slideLayout" Target="/ppt/slideLayouts/slideLayout6.xml" Id="R1080ccbcbcca4e15" /><Relationship Type="http://schemas.openxmlformats.org/officeDocument/2006/relationships/slideLayout" Target="/ppt/slideLayouts/slideLayout7.xml" Id="R151059d17903406c" /><Relationship Type="http://schemas.openxmlformats.org/officeDocument/2006/relationships/slideLayout" Target="/ppt/slideLayouts/slideLayout8.xml" Id="Rd7db0b0dcab748cb" /><Relationship Type="http://schemas.openxmlformats.org/officeDocument/2006/relationships/slideLayout" Target="/ppt/slideLayouts/slideLayout9.xml" Id="R4226a5451db24506" /><Relationship Type="http://schemas.openxmlformats.org/officeDocument/2006/relationships/slideLayout" Target="/ppt/slideLayouts/slideLayout10.xml" Id="Rd1e2bd483e3e4e03" /><Relationship Type="http://schemas.openxmlformats.org/officeDocument/2006/relationships/slideLayout" Target="/ppt/slideLayouts/slideLayout11.xml" Id="R5a9a758cbe464b79" /><Relationship Type="http://schemas.openxmlformats.org/officeDocument/2006/relationships/slideLayout" Target="/ppt/slideLayouts/slideLayout12.xml" Id="R22059fc6a5dd4489" /><Relationship Type="http://schemas.openxmlformats.org/officeDocument/2006/relationships/slideLayout" Target="/ppt/slideLayouts/slideLayout13.xml" Id="Rbf77c64d9342493f" /><Relationship Type="http://schemas.openxmlformats.org/officeDocument/2006/relationships/slideLayout" Target="/ppt/slideLayouts/slideLayout14.xml" Id="Rcfb61028d8234d00" /><Relationship Type="http://schemas.openxmlformats.org/officeDocument/2006/relationships/slideLayout" Target="/ppt/slideLayouts/slideLayout15.xml" Id="R7ecb9c70e9bd444a" /><Relationship Type="http://schemas.openxmlformats.org/officeDocument/2006/relationships/slideLayout" Target="/ppt/slideLayouts/slideLayout16.xml" Id="Rd77f0d6b4add4049" /><Relationship Type="http://schemas.openxmlformats.org/officeDocument/2006/relationships/slideLayout" Target="/ppt/slideLayouts/slideLayout17.xml" Id="R0d621c3ec62b4ce2" /><Relationship Type="http://schemas.openxmlformats.org/officeDocument/2006/relationships/slideLayout" Target="/ppt/slideLayouts/slideLayout18.xml" Id="R330fd7a1d4664426" /><Relationship Type="http://schemas.openxmlformats.org/officeDocument/2006/relationships/slideLayout" Target="/ppt/slideLayouts/slideLayout19.xml" Id="Rba870fd2edfe43d6" /><Relationship Type="http://schemas.openxmlformats.org/officeDocument/2006/relationships/slideLayout" Target="/ppt/slideLayouts/slideLayout20.xml" Id="R31af61c088af453e" /><Relationship Type="http://schemas.openxmlformats.org/officeDocument/2006/relationships/slideLayout" Target="/ppt/slideLayouts/slideLayout21.xml" Id="R40d340f51fd4441c" /><Relationship Type="http://schemas.openxmlformats.org/officeDocument/2006/relationships/slideLayout" Target="/ppt/slideLayouts/slideLayout22.xml" Id="Re046c6f56a47416c" /><Relationship Type="http://schemas.openxmlformats.org/officeDocument/2006/relationships/slideLayout" Target="/ppt/slideLayouts/slideLayout23.xml" Id="R65fc75877fd64903" /><Relationship Type="http://schemas.openxmlformats.org/officeDocument/2006/relationships/slideLayout" Target="/ppt/slideLayouts/slideLayout24.xml" Id="Rd23b33c0c9334755" /><Relationship Type="http://schemas.openxmlformats.org/officeDocument/2006/relationships/slideLayout" Target="/ppt/slideLayouts/slideLayout25.xml" Id="R9c214806c3d34aa7" /><Relationship Type="http://schemas.openxmlformats.org/officeDocument/2006/relationships/slideLayout" Target="/ppt/slideLayouts/slideLayout26.xml" Id="R47324533876546cf" /><Relationship Type="http://schemas.openxmlformats.org/officeDocument/2006/relationships/slideLayout" Target="/ppt/slideLayouts/slideLayout27.xml" Id="R67f724c73e844b0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6eb9033d7a49ea"/>
    <p:sldLayoutId xmlns:r="http://schemas.openxmlformats.org/officeDocument/2006/relationships" id="2147483650" r:id="Rc5c0ecbcad9c4aed"/>
    <p:sldLayoutId xmlns:r="http://schemas.openxmlformats.org/officeDocument/2006/relationships" id="2147483651" r:id="Rda38c02efb124a3b"/>
    <p:sldLayoutId xmlns:r="http://schemas.openxmlformats.org/officeDocument/2006/relationships" id="2147483652" r:id="Raea4f02b15d4463e"/>
    <p:sldLayoutId xmlns:r="http://schemas.openxmlformats.org/officeDocument/2006/relationships" id="2147483653" r:id="Rb224eb95d82947e9"/>
    <p:sldLayoutId xmlns:r="http://schemas.openxmlformats.org/officeDocument/2006/relationships" id="2147483654" r:id="R1080ccbcbcca4e15"/>
    <p:sldLayoutId xmlns:r="http://schemas.openxmlformats.org/officeDocument/2006/relationships" id="2147483655" r:id="R151059d17903406c"/>
    <p:sldLayoutId xmlns:r="http://schemas.openxmlformats.org/officeDocument/2006/relationships" id="2147483656" r:id="Rd7db0b0dcab748cb"/>
    <p:sldLayoutId xmlns:r="http://schemas.openxmlformats.org/officeDocument/2006/relationships" id="2147483657" r:id="R4226a5451db24506"/>
    <p:sldLayoutId xmlns:r="http://schemas.openxmlformats.org/officeDocument/2006/relationships" id="2147483658" r:id="Rd1e2bd483e3e4e03"/>
    <p:sldLayoutId xmlns:r="http://schemas.openxmlformats.org/officeDocument/2006/relationships" id="2147483659" r:id="R5a9a758cbe464b79"/>
    <p:sldLayoutId xmlns:r="http://schemas.openxmlformats.org/officeDocument/2006/relationships" id="2147483660" r:id="R22059fc6a5dd4489"/>
    <p:sldLayoutId xmlns:r="http://schemas.openxmlformats.org/officeDocument/2006/relationships" id="2147483661" r:id="Rbf77c64d9342493f"/>
    <p:sldLayoutId xmlns:r="http://schemas.openxmlformats.org/officeDocument/2006/relationships" id="2147483662" r:id="Rcfb61028d8234d00"/>
    <p:sldLayoutId xmlns:r="http://schemas.openxmlformats.org/officeDocument/2006/relationships" id="2147483663" r:id="R7ecb9c70e9bd444a"/>
    <p:sldLayoutId xmlns:r="http://schemas.openxmlformats.org/officeDocument/2006/relationships" id="2147483664" r:id="Rd77f0d6b4add4049"/>
    <p:sldLayoutId xmlns:r="http://schemas.openxmlformats.org/officeDocument/2006/relationships" id="2147483665" r:id="R0d621c3ec62b4ce2"/>
    <p:sldLayoutId xmlns:r="http://schemas.openxmlformats.org/officeDocument/2006/relationships" id="2147483666" r:id="R330fd7a1d4664426"/>
    <p:sldLayoutId xmlns:r="http://schemas.openxmlformats.org/officeDocument/2006/relationships" id="2147483667" r:id="Rba870fd2edfe43d6"/>
    <p:sldLayoutId xmlns:r="http://schemas.openxmlformats.org/officeDocument/2006/relationships" id="2147483668" r:id="R31af61c088af453e"/>
    <p:sldLayoutId xmlns:r="http://schemas.openxmlformats.org/officeDocument/2006/relationships" id="2147483669" r:id="R40d340f51fd4441c"/>
    <p:sldLayoutId xmlns:r="http://schemas.openxmlformats.org/officeDocument/2006/relationships" id="2147483670" r:id="Re046c6f56a47416c"/>
    <p:sldLayoutId xmlns:r="http://schemas.openxmlformats.org/officeDocument/2006/relationships" id="2147483671" r:id="R65fc75877fd64903"/>
    <p:sldLayoutId xmlns:r="http://schemas.openxmlformats.org/officeDocument/2006/relationships" id="2147483672" r:id="Rd23b33c0c9334755"/>
    <p:sldLayoutId xmlns:r="http://schemas.openxmlformats.org/officeDocument/2006/relationships" id="2147483673" r:id="R9c214806c3d34aa7"/>
    <p:sldLayoutId xmlns:r="http://schemas.openxmlformats.org/officeDocument/2006/relationships" id="2147483674" r:id="R47324533876546cf"/>
    <p:sldLayoutId xmlns:r="http://schemas.openxmlformats.org/officeDocument/2006/relationships" id="2147483675" r:id="R67f724c73e844b0c"/>
  </p:sldLayoutIdLst>
  <p:hf hdr="0" dt="0"/>
  <p:txStyles>
    <p:titleStyle>
      <a:lvl1pPr xmlns:a="http://schemas.openxmlformats.org/drawingml/2006/main" algn="l" defTabSz="932789">
        <a:lnSpc>
          <a:spcPct val="100000"/>
        </a:lnSpc>
        <a:spcBef>
          <a:spcPct val="0"/>
        </a:spcBef>
        <a:buNone/>
        <a:defRPr sz="2800" b="1" kern="1200" cap="none" spc="0" baseline="0">
          <a:ln w="3175">
            <a:noFill/>
          </a:ln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11" marR="0" indent="-228611" algn="l" defTabSz="932789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100000"/>
        <a:buFont typeface="Arial"/>
        <a:buChar char="•"/>
        <a:defRPr sz="1800" kern="1200" spc="0" baseline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23" marR="0" indent="-228611" algn="l" defTabSz="932789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/>
        <a:buChar char="•"/>
        <a:defRPr sz="1600" kern="1200" spc="0" baseline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57258" marR="0" indent="-200035" algn="l" defTabSz="932789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/>
        <a:buChar char="•"/>
        <a:defRPr sz="1200" kern="1200" spc="0" baseline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843005" marR="0" indent="-180984" algn="l" defTabSz="932789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/>
        <a:buChar char="•"/>
        <a:defRPr sz="1100" kern="1200" spc="0" baseline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023989" marR="0" indent="-168284" algn="l" defTabSz="932789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/>
        <a:buChar char="•"/>
        <a:defRPr sz="1100" kern="1200" spc="0" baseline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65168" indent="-233198" algn="l" defTabSz="932789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031564" indent="-233198" algn="l" defTabSz="932789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97958" indent="-233198" algn="l" defTabSz="932789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964354" indent="-233198" algn="l" defTabSz="932789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32789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66395" algn="l" defTabSz="932789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32789" algn="l" defTabSz="932789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99183" algn="l" defTabSz="932789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65577" algn="l" defTabSz="932789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31973" algn="l" defTabSz="932789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98366" algn="l" defTabSz="932789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64761" algn="l" defTabSz="932789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731156" algn="l" defTabSz="932789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6" pos="368" userDrawn="1">
          <p15:clr>
            <a:srgbClr xmlns:a="http://schemas.openxmlformats.org/drawingml/2006/main" val="C35EA4"/>
          </p15:clr>
        </p15:guide>
        <p15:guide id="17" pos="7313" userDrawn="1">
          <p15:clr>
            <a:srgbClr xmlns:a="http://schemas.openxmlformats.org/drawingml/2006/main" val="C35EA4"/>
          </p15:clr>
        </p15:guide>
        <p15:guide id="25" orient="horz" pos="369" userDrawn="1">
          <p15:clr>
            <a:srgbClr xmlns:a="http://schemas.openxmlformats.org/drawingml/2006/main" val="C35EA4"/>
          </p15:clr>
        </p15:guide>
        <p15:guide id="26" orient="horz" pos="3949" userDrawn="1">
          <p15:clr>
            <a:srgbClr xmlns:a="http://schemas.openxmlformats.org/drawingml/2006/main" val="C35EA4"/>
          </p15:clr>
        </p15:guide>
        <p15:guide id="27" orient="horz" pos="184" userDrawn="1">
          <p15:clr>
            <a:srgbClr xmlns:a="http://schemas.openxmlformats.org/drawingml/2006/main" val="A4A3A4"/>
          </p15:clr>
        </p15:guide>
        <p15:guide id="28" pos="186" userDrawn="1">
          <p15:clr>
            <a:srgbClr xmlns:a="http://schemas.openxmlformats.org/drawingml/2006/main" val="A4A3A4"/>
          </p15:clr>
        </p15:guide>
        <p15:guide id="29" orient="horz" pos="4135" userDrawn="1">
          <p15:clr>
            <a:srgbClr xmlns:a="http://schemas.openxmlformats.org/drawingml/2006/main" val="A4A3A4"/>
          </p15:clr>
        </p15:guide>
        <p15:guide id="30" pos="7495" userDrawn="1">
          <p15:clr>
            <a:srgbClr xmlns:a="http://schemas.openxmlformats.org/drawingml/2006/main" val="A4A3A4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AMD Corporate Template_Dark">
  <a:themeElements>
    <a:clrScheme name="AMD Corporate">
      <a:dk1>
        <a:srgbClr val="000000"/>
      </a:dk1>
      <a:lt1>
        <a:srgbClr val="FFFFFF"/>
      </a:lt1>
      <a:dk2>
        <a:srgbClr val="5E5E5E"/>
      </a:dk2>
      <a:lt2>
        <a:srgbClr val="9D9FA2"/>
      </a:lt2>
      <a:accent1>
        <a:srgbClr val="636466"/>
      </a:accent1>
      <a:accent2>
        <a:srgbClr val="9D9FA2"/>
      </a:accent2>
      <a:accent3>
        <a:srgbClr val="EAEAEA"/>
      </a:accent3>
      <a:accent4>
        <a:srgbClr val="F26522"/>
      </a:accent4>
      <a:accent5>
        <a:srgbClr val="ED1C24"/>
      </a:accent5>
      <a:accent6>
        <a:srgbClr val="007C97"/>
      </a:accent6>
      <a:hlink>
        <a:srgbClr val="D5D5D5"/>
      </a:hlink>
      <a:folHlink>
        <a:srgbClr val="A9A9A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MD Corporat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>
          <a:solidFill>
            <a:schemeClr val="phClr"/>
          </a:solidFill>
          <a:prstDash val="solid"/>
        </a:ln>
        <a:ln w="10795">
          <a:solidFill>
            <a:schemeClr val="phClr"/>
          </a:solidFill>
          <a:prstDash val="solid"/>
        </a:ln>
        <a:ln w="17145">
          <a:solidFill>
            <a:schemeClr val="phClr">
              <a:shade val="95000"/>
              <a:satMod val="150000"/>
              <a:alpha val="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b7e4ca0d1974005" /><Relationship Type="http://schemas.openxmlformats.org/officeDocument/2006/relationships/image" Target="/ppt/media/image.png" Id="R7a478217328d4515" /><Relationship Type="http://schemas.openxmlformats.org/officeDocument/2006/relationships/image" Target="/ppt/media/image2.png" Id="Rf4ea7a5ac658460b" /><Relationship Type="http://schemas.openxmlformats.org/officeDocument/2006/relationships/image" Target="/ppt/media/image3.png" Id="Rda4b4534a13d4c9a" /><Relationship Type="http://schemas.openxmlformats.org/officeDocument/2006/relationships/notesSlide" Target="/ppt/notesSlides/notesSlide1.xml" Id="Rb530370646c948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top-accent">
            <a:extLst xmlns:a="http://schemas.openxmlformats.org/drawingml/2006/main">
              <a:ext uri="{FF2B5EF4-FFF2-40B4-BE49-F238E27FC236}">
                <a16:creationId xmlns:a16="http://schemas.microsoft.com/office/drawing/2014/main" id="{462214C6-F7B4-4119-BA1D-BD5BC053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9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6E0344-CBCF-49B8-82D5-0ED240E6A6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478217328d4515"/>
          <a:stretch xmlns:a="http://schemas.openxmlformats.org/drawingml/2006/main"/>
        </p:blipFill>
        <p:spPr>
          <a:xfrm xmlns:a="http://schemas.openxmlformats.org/drawingml/2006/main">
            <a:off x="8582025" y="307565"/>
            <a:ext cx="647700" cy="585019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64EFD0-5B63-41D7-A312-C24C94C35B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ea7a5ac658460b"/>
          <a:stretch xmlns:a="http://schemas.openxmlformats.org/drawingml/2006/main"/>
        </p:blipFill>
        <p:spPr>
          <a:xfrm xmlns:a="http://schemas.openxmlformats.org/drawingml/2006/main">
            <a:off x="10771997" y="1114425"/>
            <a:ext cx="1077880" cy="257175"/>
          </a:xfrm>
          <a:prstGeom xmlns:a="http://schemas.openxmlformats.org/drawingml/2006/main" prst="rect">
            <a:avLst/>
          </a:prstGeom>
        </p:spPr>
      </p:pic>
      <p:sp>
        <p:nvSpPr>
          <p:cNvPr id="1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25DDFFA-F8AC-4114-99DA-D202D63E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485900"/>
            <a:ext cx="1158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left-divider">
            <a:extLst xmlns:a="http://schemas.openxmlformats.org/drawingml/2006/main">
              <a:ext uri="{FF2B5EF4-FFF2-40B4-BE49-F238E27FC236}">
                <a16:creationId xmlns:a16="http://schemas.microsoft.com/office/drawing/2014/main" id="{40FA82AC-5424-4641-89DC-B91E1E04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33550"/>
            <a:ext cx="9525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ight-divider">
            <a:extLst xmlns:a="http://schemas.openxmlformats.org/drawingml/2006/main">
              <a:ext uri="{FF2B5EF4-FFF2-40B4-BE49-F238E27FC236}">
                <a16:creationId xmlns:a16="http://schemas.microsoft.com/office/drawing/2014/main" id="{CBD93343-2173-46FC-B9CE-90A75A66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33550"/>
            <a:ext cx="9525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ule-01">
            <a:extLst xmlns:a="http://schemas.openxmlformats.org/drawingml/2006/main">
              <a:ext uri="{FF2B5EF4-FFF2-40B4-BE49-F238E27FC236}">
                <a16:creationId xmlns:a16="http://schemas.microsoft.com/office/drawing/2014/main" id="{68923871-333C-4B1F-9467-EB4A5260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990725"/>
            <a:ext cx="295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tep0">
            <a:extLst xmlns:a="http://schemas.openxmlformats.org/drawingml/2006/main">
              <a:ext uri="{FF2B5EF4-FFF2-40B4-BE49-F238E27FC236}">
                <a16:creationId xmlns:a16="http://schemas.microsoft.com/office/drawing/2014/main" id="{BE902B85-3211-453B-B1DE-4BF5C289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66712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5F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tep1">
            <a:extLst xmlns:a="http://schemas.openxmlformats.org/drawingml/2006/main">
              <a:ext uri="{FF2B5EF4-FFF2-40B4-BE49-F238E27FC236}">
                <a16:creationId xmlns:a16="http://schemas.microsoft.com/office/drawing/2014/main" id="{F393FD7A-7B6B-475A-B545-EE73EB33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0195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5F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tep2">
            <a:extLst xmlns:a="http://schemas.openxmlformats.org/drawingml/2006/main">
              <a:ext uri="{FF2B5EF4-FFF2-40B4-BE49-F238E27FC236}">
                <a16:creationId xmlns:a16="http://schemas.microsoft.com/office/drawing/2014/main" id="{45EDCF5E-EFD6-4CEC-A617-0FE3C585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3719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5F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tep3">
            <a:extLst xmlns:a="http://schemas.openxmlformats.org/drawingml/2006/main">
              <a:ext uri="{FF2B5EF4-FFF2-40B4-BE49-F238E27FC236}">
                <a16:creationId xmlns:a16="http://schemas.microsoft.com/office/drawing/2014/main" id="{48F0C824-D007-4500-A1DD-85682706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7244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5F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tep4">
            <a:extLst xmlns:a="http://schemas.openxmlformats.org/drawingml/2006/main">
              <a:ext uri="{FF2B5EF4-FFF2-40B4-BE49-F238E27FC236}">
                <a16:creationId xmlns:a16="http://schemas.microsoft.com/office/drawing/2014/main" id="{69E345B2-ADDA-43DD-9691-4017F4F0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07682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5F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tep5">
            <a:extLst xmlns:a="http://schemas.openxmlformats.org/drawingml/2006/main">
              <a:ext uri="{FF2B5EF4-FFF2-40B4-BE49-F238E27FC236}">
                <a16:creationId xmlns:a16="http://schemas.microsoft.com/office/drawing/2014/main" id="{F4D0E6EE-D1EB-4483-9C17-08FA806B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4292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5F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step6">
            <a:extLst xmlns:a="http://schemas.openxmlformats.org/drawingml/2006/main">
              <a:ext uri="{FF2B5EF4-FFF2-40B4-BE49-F238E27FC236}">
                <a16:creationId xmlns:a16="http://schemas.microsoft.com/office/drawing/2014/main" id="{4E55B8C4-8097-4A89-84C2-73615021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7816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rule-02">
            <a:extLst xmlns:a="http://schemas.openxmlformats.org/drawingml/2006/main">
              <a:ext uri="{FF2B5EF4-FFF2-40B4-BE49-F238E27FC236}">
                <a16:creationId xmlns:a16="http://schemas.microsoft.com/office/drawing/2014/main" id="{1F3E005B-B3CD-4795-991A-6A45ACE4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90725"/>
            <a:ext cx="4533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vision">
            <a:extLst xmlns:a="http://schemas.openxmlformats.org/drawingml/2006/main">
              <a:ext uri="{FF2B5EF4-FFF2-40B4-BE49-F238E27FC236}">
                <a16:creationId xmlns:a16="http://schemas.microsoft.com/office/drawing/2014/main" id="{2371B0E5-332C-4E73-8A8A-8692D8CF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62200"/>
            <a:ext cx="2143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B"/>
          </a:solidFill>
          <a:ln xmlns:a="http://schemas.openxmlformats.org/drawingml/2006/main" w="7620">
            <a:solidFill>
              <a:srgbClr val="D5E2EC"/>
            </a:solidFill>
            <a:prstDash val="solid"/>
          </a:ln>
        </p:spPr>
      </p:sp>
      <p:sp>
        <p:nvSpPr>
          <p:cNvPr id="59" name="speech">
            <a:extLst xmlns:a="http://schemas.openxmlformats.org/drawingml/2006/main">
              <a:ext uri="{FF2B5EF4-FFF2-40B4-BE49-F238E27FC236}">
                <a16:creationId xmlns:a16="http://schemas.microsoft.com/office/drawing/2014/main" id="{E11E5086-751F-463A-847C-E1139F55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62200"/>
            <a:ext cx="21812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B"/>
          </a:solidFill>
          <a:ln xmlns:a="http://schemas.openxmlformats.org/drawingml/2006/main" w="7620">
            <a:solidFill>
              <a:srgbClr val="D5E2EC"/>
            </a:solidFill>
            <a:prstDash val="solid"/>
          </a:ln>
        </p:spPr>
      </p:sp>
      <p:sp>
        <p:nvSpPr>
          <p:cNvPr id="63" name="vpl">
            <a:extLst xmlns:a="http://schemas.openxmlformats.org/drawingml/2006/main">
              <a:ext uri="{FF2B5EF4-FFF2-40B4-BE49-F238E27FC236}">
                <a16:creationId xmlns:a16="http://schemas.microsoft.com/office/drawing/2014/main" id="{CDE4D4B3-3B94-4502-A670-0D3D8F8A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52775"/>
            <a:ext cx="2143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9"/>
          </a:solidFill>
          <a:ln xmlns:a="http://schemas.openxmlformats.org/drawingml/2006/main" w="7620">
            <a:solidFill>
              <a:srgbClr val="D5E2EC"/>
            </a:solidFill>
            <a:prstDash val="solid"/>
          </a:ln>
        </p:spPr>
      </p:sp>
      <p:sp>
        <p:nvSpPr>
          <p:cNvPr id="67" name="apl">
            <a:extLst xmlns:a="http://schemas.openxmlformats.org/drawingml/2006/main">
              <a:ext uri="{FF2B5EF4-FFF2-40B4-BE49-F238E27FC236}">
                <a16:creationId xmlns:a16="http://schemas.microsoft.com/office/drawing/2014/main" id="{9226646B-43A5-4F88-AB7C-407D4070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152775"/>
            <a:ext cx="21812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4"/>
          </a:solidFill>
          <a:ln xmlns:a="http://schemas.openxmlformats.org/drawingml/2006/main" w="7620">
            <a:solidFill>
              <a:srgbClr val="D5E2EC"/>
            </a:solidFill>
            <a:prstDash val="solid"/>
          </a:ln>
        </p:spPr>
      </p:sp>
      <p:sp>
        <p:nvSpPr>
          <p:cNvPr id="71" name="service">
            <a:extLst xmlns:a="http://schemas.openxmlformats.org/drawingml/2006/main">
              <a:ext uri="{FF2B5EF4-FFF2-40B4-BE49-F238E27FC236}">
                <a16:creationId xmlns:a16="http://schemas.microsoft.com/office/drawing/2014/main" id="{89BEB8BB-E485-47D1-9CF3-C7F8370A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00500"/>
            <a:ext cx="4533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service-v">
            <a:extLst xmlns:a="http://schemas.openxmlformats.org/drawingml/2006/main">
              <a:ext uri="{FF2B5EF4-FFF2-40B4-BE49-F238E27FC236}">
                <a16:creationId xmlns:a16="http://schemas.microsoft.com/office/drawing/2014/main" id="{4D220D5E-58BF-4396-AA26-D1705CB5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6298" y="40005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service-a">
            <a:extLst xmlns:a="http://schemas.openxmlformats.org/drawingml/2006/main">
              <a:ext uri="{FF2B5EF4-FFF2-40B4-BE49-F238E27FC236}">
                <a16:creationId xmlns:a16="http://schemas.microsoft.com/office/drawing/2014/main" id="{C5271DBA-B654-41BD-B77A-D55CEB2C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023" y="4000500"/>
            <a:ext cx="1143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F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vm">
            <a:extLst xmlns:a="http://schemas.openxmlformats.org/drawingml/2006/main">
              <a:ext uri="{FF2B5EF4-FFF2-40B4-BE49-F238E27FC236}">
                <a16:creationId xmlns:a16="http://schemas.microsoft.com/office/drawing/2014/main" id="{71271D09-7BA2-48EB-AC02-CA7AA30D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19600"/>
            <a:ext cx="45339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7620">
            <a:solidFill>
              <a:srgbClr val="D5E2EC"/>
            </a:solidFill>
            <a:prstDash val="solid"/>
          </a:ln>
        </p:spPr>
      </p:sp>
      <p:sp>
        <p:nvSpPr>
          <p:cNvPr id="79" name="hi0">
            <a:extLst xmlns:a="http://schemas.openxmlformats.org/drawingml/2006/main">
              <a:ext uri="{FF2B5EF4-FFF2-40B4-BE49-F238E27FC236}">
                <a16:creationId xmlns:a16="http://schemas.microsoft.com/office/drawing/2014/main" id="{4353E1BD-55B6-41B4-9003-7DC9CED2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334000"/>
            <a:ext cx="38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hi1">
            <a:extLst xmlns:a="http://schemas.openxmlformats.org/drawingml/2006/main">
              <a:ext uri="{FF2B5EF4-FFF2-40B4-BE49-F238E27FC236}">
                <a16:creationId xmlns:a16="http://schemas.microsoft.com/office/drawing/2014/main" id="{3E72071A-DACA-478D-B9D7-EA6C5B95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724525"/>
            <a:ext cx="38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hi2">
            <a:extLst xmlns:a="http://schemas.openxmlformats.org/drawingml/2006/main">
              <a:ext uri="{FF2B5EF4-FFF2-40B4-BE49-F238E27FC236}">
                <a16:creationId xmlns:a16="http://schemas.microsoft.com/office/drawing/2014/main" id="{14A32D3E-2EF1-49ED-B4C1-201BD302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115050"/>
            <a:ext cx="38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rule-03">
            <a:extLst xmlns:a="http://schemas.openxmlformats.org/drawingml/2006/main">
              <a:ext uri="{FF2B5EF4-FFF2-40B4-BE49-F238E27FC236}">
                <a16:creationId xmlns:a16="http://schemas.microsoft.com/office/drawing/2014/main" id="{1338E540-D660-4467-A064-EBC26F30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90725"/>
            <a:ext cx="34099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2E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4873139-0D7F-4CAE-8AD1-561D16EE2A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4b4534a13d4c9a"/>
          <a:stretch xmlns:a="http://schemas.openxmlformats.org/drawingml/2006/main"/>
        </p:blipFill>
        <p:spPr>
          <a:xfrm xmlns:a="http://schemas.openxmlformats.org/drawingml/2006/main">
            <a:off x="8477250" y="2156709"/>
            <a:ext cx="3409950" cy="1915931"/>
          </a:xfrm>
          <a:prstGeom xmlns:a="http://schemas.openxmlformats.org/drawingml/2006/main" prst="rect">
            <a:avLst/>
          </a:prstGeom>
        </p:spPr>
      </p:pic>
      <p:sp>
        <p:nvSpPr>
          <p:cNvPr id="106" name="footer">
            <a:extLst xmlns:a="http://schemas.openxmlformats.org/drawingml/2006/main">
              <a:ext uri="{FF2B5EF4-FFF2-40B4-BE49-F238E27FC236}">
                <a16:creationId xmlns:a16="http://schemas.microsoft.com/office/drawing/2014/main" id="{AB4F7BDE-B443-4841-A80F-3C8AF2EA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1D95E3C-8DD3-41ED-A856-E67EBB95727A}"/>
              </a:ext>
            </a:extLst>
          </p:cNvPr>
          <p:cNvCxnSpPr>
            <a:stCxn xmlns:a="http://schemas.openxmlformats.org/drawingml/2006/main" id="23" idx="4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433388" y="3905250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D5E2EC"/>
            </a:solidFill>
            <a:prstDash val="solid"/>
            <a:tailEnd type="arrow" w="sm" len="sm"/>
          </a:ln>
        </p:spPr>
      </p:cxnSp>
      <p:cxnSp>
        <p:nvCxn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4408526-3643-4258-BA94-D0087FD3F620}"/>
              </a:ext>
            </a:extLst>
          </p:cNvPr>
          <p:cNvCxnSpPr>
            <a:stCxn xmlns:a="http://schemas.openxmlformats.org/drawingml/2006/main" id="27" idx="4"/>
            <a:endCxn xmlns:a="http://schemas.openxmlformats.org/drawingml/2006/main" id="31" idx="0"/>
          </p:cNvCxnSpPr>
          <p:nvPr/>
        </p:nvCxnSpPr>
        <p:spPr>
          <a:xfrm xmlns:a="http://schemas.openxmlformats.org/drawingml/2006/main">
            <a:off x="433388" y="4257675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D5E2EC"/>
            </a:solidFill>
            <a:prstDash val="solid"/>
            <a:tailEnd type="arrow" w="sm" len="sm"/>
          </a:ln>
        </p:spPr>
      </p:cxnSp>
      <p:cxnSp>
        <p:nvCxn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5AD3759-12B1-468D-AD0E-BC92DA954E7F}"/>
              </a:ext>
            </a:extLst>
          </p:cNvPr>
          <p:cNvCxnSpPr>
            <a:stCxn xmlns:a="http://schemas.openxmlformats.org/drawingml/2006/main" id="31" idx="4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433388" y="4610100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D5E2EC"/>
            </a:solidFill>
            <a:prstDash val="solid"/>
            <a:tailEnd type="arrow" w="sm" len="sm"/>
          </a:ln>
        </p:spPr>
      </p:cxnSp>
      <p:cxnSp>
        <p:nvCxn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58E3BED-7F9E-4A96-803D-5B3F1BA39A66}"/>
              </a:ext>
            </a:extLst>
          </p:cNvPr>
          <p:cNvCxnSpPr>
            <a:stCxn xmlns:a="http://schemas.openxmlformats.org/drawingml/2006/main" id="35" idx="4"/>
            <a:endCxn xmlns:a="http://schemas.openxmlformats.org/drawingml/2006/main" id="39" idx="0"/>
          </p:cNvCxnSpPr>
          <p:nvPr/>
        </p:nvCxnSpPr>
        <p:spPr>
          <a:xfrm xmlns:a="http://schemas.openxmlformats.org/drawingml/2006/main">
            <a:off x="433388" y="4962525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D5E2EC"/>
            </a:solidFill>
            <a:prstDash val="solid"/>
            <a:tailEnd type="arrow" w="sm" len="sm"/>
          </a:ln>
        </p:spPr>
      </p:cxnSp>
      <p:cxnSp>
        <p:nvCxn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6076A5D-6010-408C-9E06-3051A4272BD2}"/>
              </a:ext>
            </a:extLst>
          </p:cNvPr>
          <p:cNvCxnSpPr>
            <a:stCxn xmlns:a="http://schemas.openxmlformats.org/drawingml/2006/main" id="39" idx="4"/>
            <a:endCxn xmlns:a="http://schemas.openxmlformats.org/drawingml/2006/main" id="43" idx="0"/>
          </p:cNvCxnSpPr>
          <p:nvPr/>
        </p:nvCxnSpPr>
        <p:spPr>
          <a:xfrm xmlns:a="http://schemas.openxmlformats.org/drawingml/2006/main">
            <a:off x="433388" y="5314950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D5E2EC"/>
            </a:solidFill>
            <a:prstDash val="solid"/>
            <a:tailEnd type="arrow" w="sm" len="sm"/>
          </a:ln>
        </p:spPr>
      </p:cxnSp>
      <p:cxnSp>
        <p:nvCxn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72A00E1-5AFA-45C0-AE47-E4CDD5FF81CF}"/>
              </a:ext>
            </a:extLst>
          </p:cNvPr>
          <p:cNvCxnSpPr>
            <a:stCxn xmlns:a="http://schemas.openxmlformats.org/drawingml/2006/main" id="43" idx="4"/>
            <a:endCxn xmlns:a="http://schemas.openxmlformats.org/drawingml/2006/main" id="47" idx="0"/>
          </p:cNvCxnSpPr>
          <p:nvPr/>
        </p:nvCxnSpPr>
        <p:spPr>
          <a:xfrm xmlns:a="http://schemas.openxmlformats.org/drawingml/2006/main">
            <a:off x="433388" y="5667375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D5E2EC"/>
            </a:solidFill>
            <a:prstDash val="solid"/>
            <a:tailEnd type="arrow" w="sm" len="sm"/>
          </a:ln>
        </p:spPr>
      </p:cxnSp>
      <p:cxnSp>
        <p:nvCxn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77FDC9C-E7DA-4A53-BEFC-1A96A88FA977}"/>
              </a:ext>
            </a:extLst>
          </p:cNvPr>
          <p:cNvCxnSpPr>
            <a:stCxn xmlns:a="http://schemas.openxmlformats.org/drawingml/2006/main" id="55" idx="2"/>
            <a:endCxn xmlns:a="http://schemas.openxmlformats.org/drawingml/2006/main" id="63" idx="0"/>
          </p:cNvCxnSpPr>
          <p:nvPr/>
        </p:nvCxnSpPr>
        <p:spPr>
          <a:xfrm xmlns:a="http://schemas.openxmlformats.org/drawingml/2006/main">
            <a:off x="4672013" y="2990850"/>
            <a:ext cx="0" cy="1619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45F9A"/>
            </a:solidFill>
            <a:prstDash val="solid"/>
            <a:headEnd type="arrow" w="sm" len="sm"/>
            <a:tailEnd type="arrow" w="sm" len="sm"/>
          </a:ln>
        </p:spPr>
      </p:cxnSp>
      <p:cxnSp>
        <p:nvCxn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A405566-25E7-4E2A-BF83-DFA32E6453BA}"/>
              </a:ext>
            </a:extLst>
          </p:cNvPr>
          <p:cNvCxnSpPr>
            <a:stCxn xmlns:a="http://schemas.openxmlformats.org/drawingml/2006/main" id="59" idx="2"/>
            <a:endCxn xmlns:a="http://schemas.openxmlformats.org/drawingml/2006/main" id="67" idx="0"/>
          </p:cNvCxnSpPr>
          <p:nvPr/>
        </p:nvCxnSpPr>
        <p:spPr>
          <a:xfrm xmlns:a="http://schemas.openxmlformats.org/drawingml/2006/main">
            <a:off x="7043738" y="2990850"/>
            <a:ext cx="0" cy="1619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87E8B"/>
            </a:solidFill>
            <a:prstDash val="solid"/>
            <a:headEnd type="arrow" w="sm" len="sm"/>
            <a:tailEnd type="arrow" w="sm" len="sm"/>
          </a:ln>
        </p:spPr>
      </p:cxnSp>
      <p:cxnSp>
        <p:nvCxn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94A8AC1-C39B-4683-9298-B6787EC87A91}"/>
              </a:ext>
            </a:extLst>
          </p:cNvPr>
          <p:cNvCxnSpPr>
            <a:stCxn xmlns:a="http://schemas.openxmlformats.org/drawingml/2006/main" id="63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>
            <a:off x="4672013" y="3819525"/>
            <a:ext cx="1" cy="1809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45F9A"/>
            </a:solidFill>
            <a:prstDash val="solid"/>
            <a:tailEnd type="arrow" w="sm" len="sm"/>
          </a:ln>
        </p:spPr>
      </p:cxnSp>
      <p:cxnSp>
        <p:nvCxn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56822B5-20A8-44AE-884A-2C4960E4954F}"/>
              </a:ext>
            </a:extLst>
          </p:cNvPr>
          <p:cNvCxnSpPr>
            <a:stCxn xmlns:a="http://schemas.openxmlformats.org/drawingml/2006/main" id="67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>
            <a:off x="7043738" y="3819525"/>
            <a:ext cx="1" cy="1809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87E8B"/>
            </a:solidFill>
            <a:prstDash val="solid"/>
            <a:tailEnd type="arrow" w="sm" len="sm"/>
          </a:ln>
        </p:spPr>
      </p:cxnSp>
      <p:cxnSp>
        <p:nvCxn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51E33FC-B95A-4357-86E9-FA6A09F9B5BE}"/>
              </a:ext>
            </a:extLst>
          </p:cNvPr>
          <p:cNvCxnSpPr>
            <a:stCxn xmlns:a="http://schemas.openxmlformats.org/drawingml/2006/main" id="71" idx="2"/>
            <a:endCxn xmlns:a="http://schemas.openxmlformats.org/drawingml/2006/main" id="75" idx="0"/>
          </p:cNvCxnSpPr>
          <p:nvPr/>
        </p:nvCxnSpPr>
        <p:spPr>
          <a:xfrm xmlns:a="http://schemas.openxmlformats.org/drawingml/2006/main">
            <a:off x="5867400" y="4238625"/>
            <a:ext cx="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45F9A"/>
            </a:solidFill>
            <a:prstDash val="solid"/>
            <a:tailEnd type="arrow" w="sm" len="sm"/>
          </a:ln>
        </p:spPr>
      </p:cxn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C56EAF9-A08A-4D48-B769-AFD237B2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619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145F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 i="0">
                <a:solidFill>
                  <a:srgbClr val="145F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 i="0">
                <a:solidFill>
                  <a:srgbClr val="145F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 i="0">
                <a:solidFill>
                  <a:srgbClr val="145F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 i="0">
                <a:solidFill>
                  <a:srgbClr val="145F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 i="0">
                <a:solidFill>
                  <a:srgbClr val="145F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 i="0">
                <a:solidFill>
                  <a:srgbClr val="145F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 i="0">
                <a:solidFill>
                  <a:srgbClr val="145F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 i="0">
                <a:solidFill>
                  <a:srgbClr val="145F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 i="0">
                <a:solidFill>
                  <a:srgbClr val="145F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145F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45F9A"/>
                </a:solidFill>
                <a:latin typeface="Microsoft YaHei"/>
                <a:ea typeface="Microsoft YaHei"/>
                <a:cs typeface="Microsoft YaHei"/>
              </a:rPr>
              <a:t>芯语智分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5308A4E-7852-4882-9673-F7E36F3E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8625"/>
            <a:ext cx="7239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25" b="1" i="0">
                <a:solidFill>
                  <a:srgbClr val="12334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3225" b="1" i="0">
                <a:solidFill>
                  <a:srgbClr val="12334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3225" b="1" i="0">
                <a:solidFill>
                  <a:srgbClr val="12334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3225" b="1" i="0">
                <a:solidFill>
                  <a:srgbClr val="12334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3225" b="1" i="0">
                <a:solidFill>
                  <a:srgbClr val="12334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3225" b="1" i="0">
                <a:solidFill>
                  <a:srgbClr val="12334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3225" b="1" i="0">
                <a:solidFill>
                  <a:srgbClr val="12334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3225" b="1" i="0">
                <a:solidFill>
                  <a:srgbClr val="12334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3225" b="1" i="0">
                <a:solidFill>
                  <a:srgbClr val="12334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3225" b="1" i="0">
                <a:solidFill>
                  <a:srgbClr val="12334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3225" b="1" i="0">
                <a:solidFill>
                  <a:srgbClr val="1233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 i="0">
                <a:solidFill>
                  <a:srgbClr val="12334F"/>
                </a:solidFill>
                <a:latin typeface="Times New Roman"/>
                <a:ea typeface="Times New Roman"/>
                <a:cs typeface="Times New Roman"/>
              </a:rPr>
              <a:t>Xinyu SmartSort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A123798-CFF8-49EF-8443-15C2896A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962025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233C4E"/>
                </a:solidFill>
                <a:latin typeface="Calibri"/>
                <a:ea typeface="Calibri"/>
                <a:cs typeface="Calibri"/>
              </a:rPr>
              <a:t>A Voice-Visual Waste Sorting System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F2D6AC5-7E60-4066-8357-50329001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90625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233C4E"/>
                </a:solidFill>
                <a:latin typeface="Calibri"/>
                <a:ea typeface="Calibri"/>
                <a:cs typeface="Calibri"/>
              </a:rPr>
              <a:t>Based on Zynq Hardware-Software Co-Design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AF9327E-43FE-42C4-8D18-AF673DB7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143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65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65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65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65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65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65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65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65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65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12334F"/>
                </a:solidFill>
                <a:latin typeface="Calibri"/>
                <a:ea typeface="Calibri"/>
                <a:cs typeface="Calibri"/>
              </a:rPr>
              <a:t>CHONGQING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304922B2-A7C3-49D4-8D84-4AEB6EEB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5619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65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65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65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65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65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65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65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65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65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12334F"/>
                </a:solidFill>
                <a:latin typeface="Calibri"/>
                <a:ea typeface="Calibri"/>
                <a:cs typeface="Calibri"/>
              </a:rPr>
              <a:t>UNIVERSITY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F5AA6D5E-DBD5-4829-816C-7BD90C47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838200"/>
            <a:ext cx="209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145F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 i="0">
                <a:solidFill>
                  <a:srgbClr val="145F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 i="0">
                <a:solidFill>
                  <a:srgbClr val="145F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 i="0">
                <a:solidFill>
                  <a:srgbClr val="145F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 i="0">
                <a:solidFill>
                  <a:srgbClr val="145F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 i="0">
                <a:solidFill>
                  <a:srgbClr val="145F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 i="0">
                <a:solidFill>
                  <a:srgbClr val="145F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 i="0">
                <a:solidFill>
                  <a:srgbClr val="145F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 i="0">
                <a:solidFill>
                  <a:srgbClr val="145F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 i="0">
                <a:solidFill>
                  <a:srgbClr val="145F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145F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5F9A"/>
                </a:solidFill>
                <a:latin typeface="Microsoft YaHei"/>
                <a:ea typeface="Microsoft YaHei"/>
                <a:cs typeface="Microsoft YaHei"/>
              </a:rPr>
              <a:t>重庆大学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8886EFB1-0279-4AF6-AC81-BF61C673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43000"/>
            <a:ext cx="21621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8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defPPr>
            <a:lvl1pPr algn="l">
              <a:defRPr sz="998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998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998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998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998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998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998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998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998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998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pPr>
            <a:r>
              <a:rPr sz="998" b="0" i="0">
                <a:solidFill>
                  <a:srgbClr val="597081"/>
                </a:solidFill>
                <a:latin typeface="Calibri"/>
                <a:ea typeface="Calibri"/>
                <a:cs typeface="Calibri"/>
              </a:rPr>
              <a:t>Z19  /  Zynq UltraScale+ MPSoC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901C466B-FD58-45BD-A4A5-FE1A3FAA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6859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 i="0">
                <a:solidFill>
                  <a:srgbClr val="087E8B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1" i="0">
                <a:solidFill>
                  <a:srgbClr val="087E8B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1" i="0">
                <a:solidFill>
                  <a:srgbClr val="087E8B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1" i="0">
                <a:solidFill>
                  <a:srgbClr val="087E8B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1" i="0">
                <a:solidFill>
                  <a:srgbClr val="087E8B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1" i="0">
                <a:solidFill>
                  <a:srgbClr val="087E8B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1" i="0">
                <a:solidFill>
                  <a:srgbClr val="087E8B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1" i="0">
                <a:solidFill>
                  <a:srgbClr val="087E8B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1" i="0">
                <a:solidFill>
                  <a:srgbClr val="087E8B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1" i="0">
                <a:solidFill>
                  <a:srgbClr val="087E8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087E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087E8B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47266A8E-C622-46E8-B266-87076F9C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2647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12334F"/>
                </a:solidFill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8946406C-4C0B-484A-A1C8-EDA03FA7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114550"/>
            <a:ext cx="295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 i="0">
                <a:solidFill>
                  <a:srgbClr val="145F9A"/>
                </a:solidFill>
                <a:latin typeface="Calibri"/>
                <a:ea typeface="Calibri"/>
                <a:cs typeface="Calibri"/>
              </a:defRPr>
            </a:defPPr>
            <a:lvl1pPr algn="l">
              <a:defRPr sz="2175" b="1" i="0">
                <a:solidFill>
                  <a:srgbClr val="145F9A"/>
                </a:solidFill>
                <a:latin typeface="Calibri"/>
                <a:ea typeface="Calibri"/>
                <a:cs typeface="Calibri"/>
              </a:defRPr>
            </a:lvl1pPr>
            <a:lvl2pPr algn="l">
              <a:defRPr sz="2175" b="1" i="0">
                <a:solidFill>
                  <a:srgbClr val="145F9A"/>
                </a:solidFill>
                <a:latin typeface="Calibri"/>
                <a:ea typeface="Calibri"/>
                <a:cs typeface="Calibri"/>
              </a:defRPr>
            </a:lvl2pPr>
            <a:lvl3pPr algn="l">
              <a:defRPr sz="2175" b="1" i="0">
                <a:solidFill>
                  <a:srgbClr val="145F9A"/>
                </a:solidFill>
                <a:latin typeface="Calibri"/>
                <a:ea typeface="Calibri"/>
                <a:cs typeface="Calibri"/>
              </a:defRPr>
            </a:lvl3pPr>
            <a:lvl4pPr algn="l">
              <a:defRPr sz="2175" b="1" i="0">
                <a:solidFill>
                  <a:srgbClr val="145F9A"/>
                </a:solidFill>
                <a:latin typeface="Calibri"/>
                <a:ea typeface="Calibri"/>
                <a:cs typeface="Calibri"/>
              </a:defRPr>
            </a:lvl4pPr>
            <a:lvl5pPr algn="l">
              <a:defRPr sz="2175" b="1" i="0">
                <a:solidFill>
                  <a:srgbClr val="145F9A"/>
                </a:solidFill>
                <a:latin typeface="Calibri"/>
                <a:ea typeface="Calibri"/>
                <a:cs typeface="Calibri"/>
              </a:defRPr>
            </a:lvl5pPr>
            <a:lvl6pPr algn="l">
              <a:defRPr sz="2175" b="1" i="0">
                <a:solidFill>
                  <a:srgbClr val="145F9A"/>
                </a:solidFill>
                <a:latin typeface="Calibri"/>
                <a:ea typeface="Calibri"/>
                <a:cs typeface="Calibri"/>
              </a:defRPr>
            </a:lvl6pPr>
            <a:lvl7pPr algn="l">
              <a:defRPr sz="2175" b="1" i="0">
                <a:solidFill>
                  <a:srgbClr val="145F9A"/>
                </a:solidFill>
                <a:latin typeface="Calibri"/>
                <a:ea typeface="Calibri"/>
                <a:cs typeface="Calibri"/>
              </a:defRPr>
            </a:lvl7pPr>
            <a:lvl8pPr algn="l">
              <a:defRPr sz="2175" b="1" i="0">
                <a:solidFill>
                  <a:srgbClr val="145F9A"/>
                </a:solidFill>
                <a:latin typeface="Calibri"/>
                <a:ea typeface="Calibri"/>
                <a:cs typeface="Calibri"/>
              </a:defRPr>
            </a:lvl8pPr>
            <a:lvl9pPr algn="l">
              <a:defRPr sz="2175" b="1" i="0">
                <a:solidFill>
                  <a:srgbClr val="145F9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2175" b="1" i="0">
                <a:solidFill>
                  <a:srgbClr val="145F9A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145F9A"/>
                </a:solidFill>
                <a:latin typeface="Calibri"/>
                <a:ea typeface="Calibri"/>
                <a:cs typeface="Calibri"/>
              </a:rPr>
              <a:t>Hear. See. Sort.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4A0ECF17-6FB7-4C58-9905-CC30E5FD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533650"/>
            <a:ext cx="2952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7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7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7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7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7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7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7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7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7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7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pPr>
            <a:r>
              <a:rPr sz="1170" b="0" i="0">
                <a:solidFill>
                  <a:srgbClr val="233C4E"/>
                </a:solidFill>
                <a:latin typeface="Calibri"/>
                <a:ea typeface="Calibri"/>
                <a:cs typeface="Calibri"/>
              </a:rPr>
              <a:t>Turn waste sorting into a visible experience.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5AB6E85F-FB5E-4288-B75A-E46F8F85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733675"/>
            <a:ext cx="2952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7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7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7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7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7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7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7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7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7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7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pPr>
            <a:r>
              <a:rPr sz="1170" b="0" i="0">
                <a:solidFill>
                  <a:srgbClr val="233C4E"/>
                </a:solidFill>
                <a:latin typeface="Calibri"/>
                <a:ea typeface="Calibri"/>
                <a:cs typeface="Calibri"/>
              </a:rPr>
              <a:t>A voice command starts recognition, spoken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82CD715F-6215-4B7B-92DC-15F89806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933700"/>
            <a:ext cx="2952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7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7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7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7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7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7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7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7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7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7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pPr>
            <a:r>
              <a:rPr sz="1170" b="0" i="0">
                <a:solidFill>
                  <a:srgbClr val="233C4E"/>
                </a:solidFill>
                <a:latin typeface="Calibri"/>
                <a:ea typeface="Calibri"/>
                <a:cs typeface="Calibri"/>
              </a:rPr>
              <a:t>feedback and a robotic sorting action.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E6D638D3-A491-41E9-BC3D-C64E7A05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3051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0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0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0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0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0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0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0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0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0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12334F"/>
                </a:solidFill>
                <a:latin typeface="Calibri"/>
                <a:ea typeface="Calibri"/>
                <a:cs typeface="Calibri"/>
              </a:rPr>
              <a:t>ONE COMMAND, ONE TASK</a:t>
            </a:r>
          </a:p>
        </p:txBody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FFB657F4-752F-40D9-AA10-63737803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686175"/>
            <a:ext cx="238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5CCEE60D-622A-4929-839E-BD72D2F9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648075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pPr>
            <a:r>
              <a: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rPr>
              <a:t>Wake Xiaoya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A1ABBB93-498E-4014-9202-AE0658D5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838575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3" b="0" i="0">
                <a:solidFill>
                  <a:srgbClr val="5970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23" b="0" i="0">
                <a:solidFill>
                  <a:srgbClr val="5970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23" b="0" i="0">
                <a:solidFill>
                  <a:srgbClr val="5970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23" b="0" i="0">
                <a:solidFill>
                  <a:srgbClr val="5970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23" b="0" i="0">
                <a:solidFill>
                  <a:srgbClr val="5970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23" b="0" i="0">
                <a:solidFill>
                  <a:srgbClr val="5970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23" b="0" i="0">
                <a:solidFill>
                  <a:srgbClr val="5970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23" b="0" i="0">
                <a:solidFill>
                  <a:srgbClr val="5970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23" b="0" i="0">
                <a:solidFill>
                  <a:srgbClr val="5970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23" b="0" i="0">
                <a:solidFill>
                  <a:srgbClr val="5970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23" b="0" i="0">
                <a:solidFill>
                  <a:srgbClr val="5970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0" i="0">
                <a:solidFill>
                  <a:srgbClr val="597081"/>
                </a:solidFill>
                <a:latin typeface="Microsoft YaHei"/>
                <a:ea typeface="Microsoft YaHei"/>
                <a:cs typeface="Microsoft YaHei"/>
              </a:rPr>
              <a:t>“你好小亚”</a:t>
            </a:r>
          </a:p>
        </p:txBody>
      </p:sp>
      <p:sp>
        <p:nvSpPr>
          <p:cNvPr id="28" name="text-28">
            <a:extLst xmlns:a="http://schemas.openxmlformats.org/drawingml/2006/main">
              <a:ext uri="{FF2B5EF4-FFF2-40B4-BE49-F238E27FC236}">
                <a16:creationId xmlns:a16="http://schemas.microsoft.com/office/drawing/2014/main" id="{A063D8EF-46B3-4BD2-89B4-7226F8A0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038600"/>
            <a:ext cx="238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9" name="text-29">
            <a:extLst xmlns:a="http://schemas.openxmlformats.org/drawingml/2006/main">
              <a:ext uri="{FF2B5EF4-FFF2-40B4-BE49-F238E27FC236}">
                <a16:creationId xmlns:a16="http://schemas.microsoft.com/office/drawing/2014/main" id="{9DEA0B7D-23EB-4BFC-8E79-0CA813B1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00500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pPr>
            <a:r>
              <a: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rPr>
              <a:t>Start sorting</a:t>
            </a:r>
          </a:p>
        </p:txBody>
      </p:sp>
      <p:sp>
        <p:nvSpPr>
          <p:cNvPr id="30" name="text-30">
            <a:extLst xmlns:a="http://schemas.openxmlformats.org/drawingml/2006/main">
              <a:ext uri="{FF2B5EF4-FFF2-40B4-BE49-F238E27FC236}">
                <a16:creationId xmlns:a16="http://schemas.microsoft.com/office/drawing/2014/main" id="{A76F36EF-47C5-4399-9638-E487E606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19100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3" b="0" i="0">
                <a:solidFill>
                  <a:srgbClr val="5970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23" b="0" i="0">
                <a:solidFill>
                  <a:srgbClr val="59708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23" b="0" i="0">
                <a:solidFill>
                  <a:srgbClr val="59708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23" b="0" i="0">
                <a:solidFill>
                  <a:srgbClr val="59708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23" b="0" i="0">
                <a:solidFill>
                  <a:srgbClr val="59708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23" b="0" i="0">
                <a:solidFill>
                  <a:srgbClr val="59708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23" b="0" i="0">
                <a:solidFill>
                  <a:srgbClr val="59708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23" b="0" i="0">
                <a:solidFill>
                  <a:srgbClr val="59708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23" b="0" i="0">
                <a:solidFill>
                  <a:srgbClr val="59708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23" b="0" i="0">
                <a:solidFill>
                  <a:srgbClr val="5970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23" b="0" i="0">
                <a:solidFill>
                  <a:srgbClr val="5970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0" i="0">
                <a:solidFill>
                  <a:srgbClr val="597081"/>
                </a:solidFill>
                <a:latin typeface="Microsoft YaHei"/>
                <a:ea typeface="Microsoft YaHei"/>
                <a:cs typeface="Microsoft YaHei"/>
              </a:rPr>
              <a:t>“开始垃圾分拣”</a:t>
            </a:r>
          </a:p>
        </p:txBody>
      </p:sp>
      <p:sp>
        <p:nvSpPr>
          <p:cNvPr id="32" name="text-33">
            <a:extLst xmlns:a="http://schemas.openxmlformats.org/drawingml/2006/main">
              <a:ext uri="{FF2B5EF4-FFF2-40B4-BE49-F238E27FC236}">
                <a16:creationId xmlns:a16="http://schemas.microsoft.com/office/drawing/2014/main" id="{3753DCBF-4E3A-43B8-B73D-D5AEEEF0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391025"/>
            <a:ext cx="238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3" name="text-34">
            <a:extLst xmlns:a="http://schemas.openxmlformats.org/drawingml/2006/main">
              <a:ext uri="{FF2B5EF4-FFF2-40B4-BE49-F238E27FC236}">
                <a16:creationId xmlns:a16="http://schemas.microsoft.com/office/drawing/2014/main" id="{215EEDDE-827B-4BDF-A4CE-9FCC143E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352925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pPr>
            <a:r>
              <a: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rPr>
              <a:t>Prepare and capture</a:t>
            </a:r>
          </a:p>
        </p:txBody>
      </p:sp>
      <p:sp>
        <p:nvSpPr>
          <p:cNvPr id="34" name="text-35">
            <a:extLst xmlns:a="http://schemas.openxmlformats.org/drawingml/2006/main">
              <a:ext uri="{FF2B5EF4-FFF2-40B4-BE49-F238E27FC236}">
                <a16:creationId xmlns:a16="http://schemas.microsoft.com/office/drawing/2014/main" id="{F9C3DF48-2145-4A6E-BBCF-C8906058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543425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defPPr>
            <a:lvl1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pPr>
            <a:r>
              <a: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rPr>
              <a:t>Camera view</a:t>
            </a:r>
          </a:p>
        </p:txBody>
      </p:sp>
      <p:sp>
        <p:nvSpPr>
          <p:cNvPr id="36" name="text-38">
            <a:extLst xmlns:a="http://schemas.openxmlformats.org/drawingml/2006/main">
              <a:ext uri="{FF2B5EF4-FFF2-40B4-BE49-F238E27FC236}">
                <a16:creationId xmlns:a16="http://schemas.microsoft.com/office/drawing/2014/main" id="{8275A178-AFD1-44CC-8089-1A0B9E90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743450"/>
            <a:ext cx="238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7" name="text-39">
            <a:extLst xmlns:a="http://schemas.openxmlformats.org/drawingml/2006/main">
              <a:ext uri="{FF2B5EF4-FFF2-40B4-BE49-F238E27FC236}">
                <a16:creationId xmlns:a16="http://schemas.microsoft.com/office/drawing/2014/main" id="{E078153D-57C6-4D6D-948F-0F11D32C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705350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pPr>
            <a:r>
              <a: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rPr>
              <a:t>Recognize the category</a:t>
            </a:r>
          </a:p>
        </p:txBody>
      </p:sp>
      <p:sp>
        <p:nvSpPr>
          <p:cNvPr id="38" name="text-40">
            <a:extLst xmlns:a="http://schemas.openxmlformats.org/drawingml/2006/main">
              <a:ext uri="{FF2B5EF4-FFF2-40B4-BE49-F238E27FC236}">
                <a16:creationId xmlns:a16="http://schemas.microsoft.com/office/drawing/2014/main" id="{18F0A19B-60CA-4221-BB19-57DAAFCF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89585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defPPr>
            <a:lvl1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pPr>
            <a:r>
              <a: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rPr>
              <a:t>Visual detection</a:t>
            </a:r>
          </a:p>
        </p:txBody>
      </p:sp>
      <p:sp>
        <p:nvSpPr>
          <p:cNvPr id="40" name="text-43">
            <a:extLst xmlns:a="http://schemas.openxmlformats.org/drawingml/2006/main">
              <a:ext uri="{FF2B5EF4-FFF2-40B4-BE49-F238E27FC236}">
                <a16:creationId xmlns:a16="http://schemas.microsoft.com/office/drawing/2014/main" id="{0D29ECF2-B98C-48B3-8E86-730AD7DE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095875"/>
            <a:ext cx="238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1" name="text-44">
            <a:extLst xmlns:a="http://schemas.openxmlformats.org/drawingml/2006/main">
              <a:ext uri="{FF2B5EF4-FFF2-40B4-BE49-F238E27FC236}">
                <a16:creationId xmlns:a16="http://schemas.microsoft.com/office/drawing/2014/main" id="{F3B8E3D9-8D89-4788-B516-C5CD3596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57775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pPr>
            <a:r>
              <a: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rPr>
              <a:t>Announce the result</a:t>
            </a:r>
          </a:p>
        </p:txBody>
      </p:sp>
      <p:sp>
        <p:nvSpPr>
          <p:cNvPr id="42" name="text-45">
            <a:extLst xmlns:a="http://schemas.openxmlformats.org/drawingml/2006/main">
              <a:ext uri="{FF2B5EF4-FFF2-40B4-BE49-F238E27FC236}">
                <a16:creationId xmlns:a16="http://schemas.microsoft.com/office/drawing/2014/main" id="{371E240D-58FE-4090-B008-AEE84671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248275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defPPr>
            <a:lvl1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pPr>
            <a:r>
              <a: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rPr>
              <a:t>Spoken feedback</a:t>
            </a:r>
          </a:p>
        </p:txBody>
      </p:sp>
      <p:sp>
        <p:nvSpPr>
          <p:cNvPr id="44" name="text-48">
            <a:extLst xmlns:a="http://schemas.openxmlformats.org/drawingml/2006/main">
              <a:ext uri="{FF2B5EF4-FFF2-40B4-BE49-F238E27FC236}">
                <a16:creationId xmlns:a16="http://schemas.microsoft.com/office/drawing/2014/main" id="{47CF6C3F-0A40-402A-B1D9-FC30C26D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448300"/>
            <a:ext cx="238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5" name="text-49">
            <a:extLst xmlns:a="http://schemas.openxmlformats.org/drawingml/2006/main">
              <a:ext uri="{FF2B5EF4-FFF2-40B4-BE49-F238E27FC236}">
                <a16:creationId xmlns:a16="http://schemas.microsoft.com/office/drawing/2014/main" id="{FAA29F09-748D-4A1F-AADA-140AE65D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410200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pPr>
            <a:r>
              <a: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rPr>
              <a:t>Pick and place</a:t>
            </a:r>
          </a:p>
        </p:txBody>
      </p:sp>
      <p:sp>
        <p:nvSpPr>
          <p:cNvPr id="46" name="text-50">
            <a:extLst xmlns:a="http://schemas.openxmlformats.org/drawingml/2006/main">
              <a:ext uri="{FF2B5EF4-FFF2-40B4-BE49-F238E27FC236}">
                <a16:creationId xmlns:a16="http://schemas.microsoft.com/office/drawing/2014/main" id="{F39026AA-1037-40BB-B352-9A45BF9F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60070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defPPr>
            <a:lvl1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pPr>
            <a:r>
              <a: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rPr>
              <a:t>Fixed pickup station</a:t>
            </a:r>
          </a:p>
        </p:txBody>
      </p:sp>
      <p:sp>
        <p:nvSpPr>
          <p:cNvPr id="48" name="text-53">
            <a:extLst xmlns:a="http://schemas.openxmlformats.org/drawingml/2006/main">
              <a:ext uri="{FF2B5EF4-FFF2-40B4-BE49-F238E27FC236}">
                <a16:creationId xmlns:a16="http://schemas.microsoft.com/office/drawing/2014/main" id="{F1D15567-591B-46B4-957E-49297F5A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800725"/>
            <a:ext cx="238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9" name="text-54">
            <a:extLst xmlns:a="http://schemas.openxmlformats.org/drawingml/2006/main">
              <a:ext uri="{FF2B5EF4-FFF2-40B4-BE49-F238E27FC236}">
                <a16:creationId xmlns:a16="http://schemas.microsoft.com/office/drawing/2014/main" id="{07C3964B-11DE-4782-A3C7-FC679B02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762625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pPr>
            <a:r>
              <a:rPr sz="1215" b="1" i="0">
                <a:solidFill>
                  <a:srgbClr val="12334F"/>
                </a:solidFill>
                <a:latin typeface="Calibri"/>
                <a:ea typeface="Calibri"/>
                <a:cs typeface="Calibri"/>
              </a:rPr>
              <a:t>Return to waiting</a:t>
            </a:r>
          </a:p>
        </p:txBody>
      </p:sp>
      <p:sp>
        <p:nvSpPr>
          <p:cNvPr id="50" name="text-55">
            <a:extLst xmlns:a="http://schemas.openxmlformats.org/drawingml/2006/main">
              <a:ext uri="{FF2B5EF4-FFF2-40B4-BE49-F238E27FC236}">
                <a16:creationId xmlns:a16="http://schemas.microsoft.com/office/drawing/2014/main" id="{F61BA0C4-D560-4781-B352-59D041FC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953125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defPPr>
            <a:lvl1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pPr>
            <a:r>
              <a:rPr sz="923" b="0" i="0">
                <a:solidFill>
                  <a:srgbClr val="597081"/>
                </a:solidFill>
                <a:latin typeface="Calibri"/>
                <a:ea typeface="Calibri"/>
                <a:cs typeface="Calibri"/>
              </a:rPr>
              <a:t>Ready for the next task</a:t>
            </a:r>
          </a:p>
        </p:txBody>
      </p:sp>
      <p:sp>
        <p:nvSpPr>
          <p:cNvPr id="51" name="text-56">
            <a:extLst xmlns:a="http://schemas.openxmlformats.org/drawingml/2006/main">
              <a:ext uri="{FF2B5EF4-FFF2-40B4-BE49-F238E27FC236}">
                <a16:creationId xmlns:a16="http://schemas.microsoft.com/office/drawing/2014/main" id="{F8740800-510F-4271-AAED-3AEFC880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859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 i="0">
                <a:solidFill>
                  <a:srgbClr val="087E8B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1" i="0">
                <a:solidFill>
                  <a:srgbClr val="087E8B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1" i="0">
                <a:solidFill>
                  <a:srgbClr val="087E8B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1" i="0">
                <a:solidFill>
                  <a:srgbClr val="087E8B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1" i="0">
                <a:solidFill>
                  <a:srgbClr val="087E8B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1" i="0">
                <a:solidFill>
                  <a:srgbClr val="087E8B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1" i="0">
                <a:solidFill>
                  <a:srgbClr val="087E8B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1" i="0">
                <a:solidFill>
                  <a:srgbClr val="087E8B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1" i="0">
                <a:solidFill>
                  <a:srgbClr val="087E8B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1" i="0">
                <a:solidFill>
                  <a:srgbClr val="087E8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087E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087E8B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52" name="text-57">
            <a:extLst xmlns:a="http://schemas.openxmlformats.org/drawingml/2006/main">
              <a:ext uri="{FF2B5EF4-FFF2-40B4-BE49-F238E27FC236}">
                <a16:creationId xmlns:a16="http://schemas.microsoft.com/office/drawing/2014/main" id="{C90BC762-AF06-4F49-91CB-747EF854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85925"/>
            <a:ext cx="4229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12334F"/>
                </a:solidFill>
                <a:latin typeface="Calibri"/>
                <a:ea typeface="Calibri"/>
                <a:cs typeface="Calibri"/>
              </a:rPr>
              <a:t>ZYNQ CO-DESIGN</a:t>
            </a:r>
          </a:p>
        </p:txBody>
      </p:sp>
      <p:sp>
        <p:nvSpPr>
          <p:cNvPr id="54" name="text-59">
            <a:extLst xmlns:a="http://schemas.openxmlformats.org/drawingml/2006/main">
              <a:ext uri="{FF2B5EF4-FFF2-40B4-BE49-F238E27FC236}">
                <a16:creationId xmlns:a16="http://schemas.microsoft.com/office/drawing/2014/main" id="{5E1A3ADD-C644-474D-9423-913180C7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85975"/>
            <a:ext cx="453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6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6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6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6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6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6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6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6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6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63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pPr>
            <a:r>
              <a:rPr sz="1163" b="0" i="0">
                <a:solidFill>
                  <a:srgbClr val="597081"/>
                </a:solidFill>
                <a:latin typeface="Calibri"/>
                <a:ea typeface="Calibri"/>
                <a:cs typeface="Calibri"/>
              </a:rPr>
              <a:t>Four-function source architecture · functional roles</a:t>
            </a:r>
          </a:p>
        </p:txBody>
      </p:sp>
      <p:sp>
        <p:nvSpPr>
          <p:cNvPr id="56" name="text-61">
            <a:extLst xmlns:a="http://schemas.openxmlformats.org/drawingml/2006/main">
              <a:ext uri="{FF2B5EF4-FFF2-40B4-BE49-F238E27FC236}">
                <a16:creationId xmlns:a16="http://schemas.microsoft.com/office/drawing/2014/main" id="{E803D3F7-FF79-4AD7-8855-20CCB6F0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428875"/>
            <a:ext cx="1971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rPr>
              <a:t>PS  |  Visual intelligence</a:t>
            </a:r>
          </a:p>
        </p:txBody>
      </p:sp>
      <p:sp>
        <p:nvSpPr>
          <p:cNvPr id="57" name="text-62">
            <a:extLst xmlns:a="http://schemas.openxmlformats.org/drawingml/2006/main">
              <a:ext uri="{FF2B5EF4-FFF2-40B4-BE49-F238E27FC236}">
                <a16:creationId xmlns:a16="http://schemas.microsoft.com/office/drawing/2014/main" id="{7E0D8811-30BA-4B75-B3F1-A034474D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638425"/>
            <a:ext cx="19716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defPPr>
            <a:lvl1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pPr>
            <a:r>
              <a: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rPr>
              <a:t>Camera capture · YOLO on CPU</a:t>
            </a:r>
          </a:p>
        </p:txBody>
      </p:sp>
      <p:sp>
        <p:nvSpPr>
          <p:cNvPr id="58" name="text-63">
            <a:extLst xmlns:a="http://schemas.openxmlformats.org/drawingml/2006/main">
              <a:ext uri="{FF2B5EF4-FFF2-40B4-BE49-F238E27FC236}">
                <a16:creationId xmlns:a16="http://schemas.microsoft.com/office/drawing/2014/main" id="{8CFF4CDC-2E38-42B8-9E83-E94E1E8A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800350"/>
            <a:ext cx="19716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defPPr>
            <a:lvl1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pPr>
            <a:r>
              <a: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rPr>
              <a:t>Category + coordinate recovery</a:t>
            </a:r>
          </a:p>
        </p:txBody>
      </p:sp>
      <p:sp>
        <p:nvSpPr>
          <p:cNvPr id="60" name="text-65">
            <a:extLst xmlns:a="http://schemas.openxmlformats.org/drawingml/2006/main">
              <a:ext uri="{FF2B5EF4-FFF2-40B4-BE49-F238E27FC236}">
                <a16:creationId xmlns:a16="http://schemas.microsoft.com/office/drawing/2014/main" id="{0E8AB9CE-72A3-41BB-B428-FBBB6EC3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28875"/>
            <a:ext cx="2009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rPr>
              <a:t>PS  |  Speech intelligence</a:t>
            </a:r>
          </a:p>
        </p:txBody>
      </p:sp>
      <p:sp>
        <p:nvSpPr>
          <p:cNvPr id="61" name="text-66">
            <a:extLst xmlns:a="http://schemas.openxmlformats.org/drawingml/2006/main">
              <a:ext uri="{FF2B5EF4-FFF2-40B4-BE49-F238E27FC236}">
                <a16:creationId xmlns:a16="http://schemas.microsoft.com/office/drawing/2014/main" id="{D35A1644-D318-461A-90C8-5FE5DFD9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38425"/>
            <a:ext cx="2009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defPPr>
            <a:lvl1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pPr>
            <a:r>
              <a: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rPr>
              <a:t>USB audio capture · Vosk ASR</a:t>
            </a:r>
          </a:p>
        </p:txBody>
      </p:sp>
      <p:sp>
        <p:nvSpPr>
          <p:cNvPr id="62" name="text-67">
            <a:extLst xmlns:a="http://schemas.openxmlformats.org/drawingml/2006/main">
              <a:ext uri="{FF2B5EF4-FFF2-40B4-BE49-F238E27FC236}">
                <a16:creationId xmlns:a16="http://schemas.microsoft.com/office/drawing/2014/main" id="{D3EDA438-E14B-47B9-9B0B-3E51ABD9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00350"/>
            <a:ext cx="2009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defPPr>
            <a:lvl1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pPr>
            <a:r>
              <a: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rPr>
              <a:t>Wake and task command events</a:t>
            </a:r>
          </a:p>
        </p:txBody>
      </p:sp>
      <p:sp>
        <p:nvSpPr>
          <p:cNvPr id="64" name="text-69">
            <a:extLst xmlns:a="http://schemas.openxmlformats.org/drawingml/2006/main">
              <a:ext uri="{FF2B5EF4-FFF2-40B4-BE49-F238E27FC236}">
                <a16:creationId xmlns:a16="http://schemas.microsoft.com/office/drawing/2014/main" id="{83D37D87-4B8E-4E46-BBD8-866A14E9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219450"/>
            <a:ext cx="1971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rPr>
              <a:t>PL  |  Video + candidate rules</a:t>
            </a:r>
          </a:p>
        </p:txBody>
      </p:sp>
      <p:sp>
        <p:nvSpPr>
          <p:cNvPr id="65" name="text-70">
            <a:extLst xmlns:a="http://schemas.openxmlformats.org/drawingml/2006/main">
              <a:ext uri="{FF2B5EF4-FFF2-40B4-BE49-F238E27FC236}">
                <a16:creationId xmlns:a16="http://schemas.microsoft.com/office/drawing/2014/main" id="{508F863B-3529-4882-B4AA-41D81DD0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429000"/>
            <a:ext cx="19716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defPPr>
            <a:lvl1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pPr>
            <a:r>
              <a: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rPr>
              <a:t>RGB / HSV · ROI statistics</a:t>
            </a:r>
          </a:p>
        </p:txBody>
      </p:sp>
      <p:sp>
        <p:nvSpPr>
          <p:cNvPr id="66" name="text-71">
            <a:extLst xmlns:a="http://schemas.openxmlformats.org/drawingml/2006/main">
              <a:ext uri="{FF2B5EF4-FFF2-40B4-BE49-F238E27FC236}">
                <a16:creationId xmlns:a16="http://schemas.microsoft.com/office/drawing/2014/main" id="{2BE178C3-4AB1-4507-8877-E7504876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590925"/>
            <a:ext cx="19716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defPPr>
            <a:lvl1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pPr>
            <a:r>
              <a: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rPr>
              <a:t>First moments · candidate checks</a:t>
            </a:r>
          </a:p>
        </p:txBody>
      </p:sp>
      <p:sp>
        <p:nvSpPr>
          <p:cNvPr id="68" name="text-73">
            <a:extLst xmlns:a="http://schemas.openxmlformats.org/drawingml/2006/main">
              <a:ext uri="{FF2B5EF4-FFF2-40B4-BE49-F238E27FC236}">
                <a16:creationId xmlns:a16="http://schemas.microsoft.com/office/drawing/2014/main" id="{1E0E1FE3-A548-4AC4-8CC5-9582511A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219450"/>
            <a:ext cx="2009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rPr>
              <a:t>PL  |  Audio frontend</a:t>
            </a:r>
          </a:p>
        </p:txBody>
      </p:sp>
      <p:sp>
        <p:nvSpPr>
          <p:cNvPr id="69" name="text-74">
            <a:extLst xmlns:a="http://schemas.openxmlformats.org/drawingml/2006/main">
              <a:ext uri="{FF2B5EF4-FFF2-40B4-BE49-F238E27FC236}">
                <a16:creationId xmlns:a16="http://schemas.microsoft.com/office/drawing/2014/main" id="{0BC834EE-16CD-47B7-8447-F95961AC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429000"/>
            <a:ext cx="2009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defPPr>
            <a:lvl1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pPr>
            <a:r>
              <a: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rPr>
              <a:t>DC suppression · 63-tap FIR</a:t>
            </a:r>
          </a:p>
        </p:txBody>
      </p:sp>
      <p:sp>
        <p:nvSpPr>
          <p:cNvPr id="70" name="text-75">
            <a:extLst xmlns:a="http://schemas.openxmlformats.org/drawingml/2006/main">
              <a:ext uri="{FF2B5EF4-FFF2-40B4-BE49-F238E27FC236}">
                <a16:creationId xmlns:a16="http://schemas.microsoft.com/office/drawing/2014/main" id="{B8C114AC-26D2-40F1-9DBA-6F8E10EE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590925"/>
            <a:ext cx="20097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defPPr>
            <a:lvl1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pPr>
            <a:r>
              <a: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rPr>
              <a:t>Filtering before speech recognition</a:t>
            </a:r>
          </a:p>
        </p:txBody>
      </p:sp>
      <p:sp>
        <p:nvSpPr>
          <p:cNvPr id="72" name="text-79">
            <a:extLst xmlns:a="http://schemas.openxmlformats.org/drawingml/2006/main">
              <a:ext uri="{FF2B5EF4-FFF2-40B4-BE49-F238E27FC236}">
                <a16:creationId xmlns:a16="http://schemas.microsoft.com/office/drawing/2014/main" id="{2EDB7E3D-0D90-4B47-907E-F32F4FFA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029075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PS TASK SERVICE  |  Coordinates · categories · commands</a:t>
            </a:r>
          </a:p>
        </p:txBody>
      </p:sp>
      <p:sp>
        <p:nvSpPr>
          <p:cNvPr id="76" name="text-85">
            <a:extLst xmlns:a="http://schemas.openxmlformats.org/drawingml/2006/main">
              <a:ext uri="{FF2B5EF4-FFF2-40B4-BE49-F238E27FC236}">
                <a16:creationId xmlns:a16="http://schemas.microsoft.com/office/drawing/2014/main" id="{7B280DFE-CCEC-4518-BCD6-D1736F86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486275"/>
            <a:ext cx="436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2334F"/>
                </a:solidFill>
                <a:latin typeface="Calibri"/>
                <a:ea typeface="Calibri"/>
                <a:cs typeface="Calibri"/>
              </a:rPr>
              <a:t>VM / HOST  |  Task, voice and motion</a:t>
            </a:r>
          </a:p>
        </p:txBody>
      </p:sp>
      <p:sp>
        <p:nvSpPr>
          <p:cNvPr id="77" name="text-86">
            <a:extLst xmlns:a="http://schemas.openxmlformats.org/drawingml/2006/main">
              <a:ext uri="{FF2B5EF4-FFF2-40B4-BE49-F238E27FC236}">
                <a16:creationId xmlns:a16="http://schemas.microsoft.com/office/drawing/2014/main" id="{64C1E6AF-5D19-4BD0-B57D-766BC2D0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695825"/>
            <a:ext cx="4362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defPPr>
            <a:lvl1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pPr>
            <a:r>
              <a: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rPr>
              <a:t>Task management · announcement · SDK actions · visualization</a:t>
            </a:r>
          </a:p>
        </p:txBody>
      </p:sp>
      <p:sp>
        <p:nvSpPr>
          <p:cNvPr id="78" name="text-88">
            <a:extLst xmlns:a="http://schemas.openxmlformats.org/drawingml/2006/main">
              <a:ext uri="{FF2B5EF4-FFF2-40B4-BE49-F238E27FC236}">
                <a16:creationId xmlns:a16="http://schemas.microsoft.com/office/drawing/2014/main" id="{50D6F083-681E-4849-AFD5-DD1E89DA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10150"/>
            <a:ext cx="4533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12334F"/>
                </a:solidFill>
                <a:latin typeface="Calibri"/>
                <a:ea typeface="Calibri"/>
                <a:cs typeface="Calibri"/>
              </a:rPr>
              <a:t>DESIGNED TO WORK TOGETHER</a:t>
            </a:r>
          </a:p>
        </p:txBody>
      </p:sp>
      <p:sp>
        <p:nvSpPr>
          <p:cNvPr id="80" name="text-90">
            <a:extLst xmlns:a="http://schemas.openxmlformats.org/drawingml/2006/main">
              <a:ext uri="{FF2B5EF4-FFF2-40B4-BE49-F238E27FC236}">
                <a16:creationId xmlns:a16="http://schemas.microsoft.com/office/drawing/2014/main" id="{A89E37A2-51F4-444A-9C2C-855EC14C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86375"/>
            <a:ext cx="4419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7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77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77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77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77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77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77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77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77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77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77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pPr>
            <a:r>
              <a:rPr sz="1177" b="1" i="0">
                <a:solidFill>
                  <a:srgbClr val="12334F"/>
                </a:solidFill>
                <a:latin typeface="Calibri"/>
                <a:ea typeface="Calibri"/>
                <a:cs typeface="Calibri"/>
              </a:rPr>
              <a:t>Natural interaction</a:t>
            </a:r>
          </a:p>
        </p:txBody>
      </p:sp>
      <p:sp>
        <p:nvSpPr>
          <p:cNvPr id="81" name="text-91">
            <a:extLst xmlns:a="http://schemas.openxmlformats.org/drawingml/2006/main">
              <a:ext uri="{FF2B5EF4-FFF2-40B4-BE49-F238E27FC236}">
                <a16:creationId xmlns:a16="http://schemas.microsoft.com/office/drawing/2014/main" id="{825A8D55-5650-48B8-9389-6E9C247B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48300"/>
            <a:ext cx="4419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defPPr>
            <a:lvl1pPr algn="l">
              <a:defRPr sz="99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99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99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99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99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99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99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99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99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99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pPr>
            <a:r>
              <a:rPr sz="990" b="0" i="0">
                <a:solidFill>
                  <a:srgbClr val="233C4E"/>
                </a:solidFill>
                <a:latin typeface="Calibri"/>
                <a:ea typeface="Calibri"/>
                <a:cs typeface="Calibri"/>
              </a:rPr>
              <a:t>One wake-and-start cycle links recognition, feedback and action.</a:t>
            </a:r>
          </a:p>
        </p:txBody>
      </p:sp>
      <p:sp>
        <p:nvSpPr>
          <p:cNvPr id="83" name="text-93">
            <a:extLst xmlns:a="http://schemas.openxmlformats.org/drawingml/2006/main">
              <a:ext uri="{FF2B5EF4-FFF2-40B4-BE49-F238E27FC236}">
                <a16:creationId xmlns:a16="http://schemas.microsoft.com/office/drawing/2014/main" id="{B921CCBF-D9F1-4EF8-99F6-F13D88DD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76900"/>
            <a:ext cx="4419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7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77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77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77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77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77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77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77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77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77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77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pPr>
            <a:r>
              <a:rPr sz="1177" b="1" i="0">
                <a:solidFill>
                  <a:srgbClr val="12334F"/>
                </a:solidFill>
                <a:latin typeface="Calibri"/>
                <a:ea typeface="Calibri"/>
                <a:cs typeface="Calibri"/>
              </a:rPr>
              <a:t>Clear hardware-software roles</a:t>
            </a:r>
          </a:p>
        </p:txBody>
      </p:sp>
      <p:sp>
        <p:nvSpPr>
          <p:cNvPr id="84" name="text-94">
            <a:extLst xmlns:a="http://schemas.openxmlformats.org/drawingml/2006/main">
              <a:ext uri="{FF2B5EF4-FFF2-40B4-BE49-F238E27FC236}">
                <a16:creationId xmlns:a16="http://schemas.microsoft.com/office/drawing/2014/main" id="{244B43BA-F511-4C83-8C94-D0929B01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838825"/>
            <a:ext cx="4419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defPPr>
            <a:lvl1pPr algn="l">
              <a:defRPr sz="99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99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99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99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99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99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99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99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99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99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pPr>
            <a:r>
              <a:rPr sz="990" b="0" i="0">
                <a:solidFill>
                  <a:srgbClr val="233C4E"/>
                </a:solidFill>
                <a:latin typeface="Calibri"/>
                <a:ea typeface="Calibri"/>
                <a:cs typeface="Calibri"/>
              </a:rPr>
              <a:t>PS runs models and services; PL processes pixel and audio streams.</a:t>
            </a:r>
          </a:p>
        </p:txBody>
      </p:sp>
      <p:sp>
        <p:nvSpPr>
          <p:cNvPr id="86" name="text-96">
            <a:extLst xmlns:a="http://schemas.openxmlformats.org/drawingml/2006/main">
              <a:ext uri="{FF2B5EF4-FFF2-40B4-BE49-F238E27FC236}">
                <a16:creationId xmlns:a16="http://schemas.microsoft.com/office/drawing/2014/main" id="{94CD41EC-F95B-471D-894E-2D8B8C19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067425"/>
            <a:ext cx="4419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7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177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177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177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177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177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177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177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177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177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177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pPr>
            <a:r>
              <a:rPr sz="1177" b="1" i="0">
                <a:solidFill>
                  <a:srgbClr val="12334F"/>
                </a:solidFill>
                <a:latin typeface="Calibri"/>
                <a:ea typeface="Calibri"/>
                <a:cs typeface="Calibri"/>
              </a:rPr>
              <a:t>Modular engineering</a:t>
            </a:r>
          </a:p>
        </p:txBody>
      </p:sp>
      <p:sp>
        <p:nvSpPr>
          <p:cNvPr id="87" name="text-97">
            <a:extLst xmlns:a="http://schemas.openxmlformats.org/drawingml/2006/main">
              <a:ext uri="{FF2B5EF4-FFF2-40B4-BE49-F238E27FC236}">
                <a16:creationId xmlns:a16="http://schemas.microsoft.com/office/drawing/2014/main" id="{A6176394-EDFC-4186-B12B-41692CB3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229350"/>
            <a:ext cx="4419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defPPr>
            <a:lvl1pPr algn="l">
              <a:defRPr sz="99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99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99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99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99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99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99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99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99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99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pPr>
            <a:r>
              <a:rPr sz="990" b="0" i="0">
                <a:solidFill>
                  <a:srgbClr val="233C4E"/>
                </a:solidFill>
                <a:latin typeface="Calibri"/>
                <a:ea typeface="Calibri"/>
                <a:cs typeface="Calibri"/>
              </a:rPr>
              <a:t>Four functions support reuse, teaching and further integration.</a:t>
            </a:r>
          </a:p>
        </p:txBody>
      </p:sp>
      <p:sp>
        <p:nvSpPr>
          <p:cNvPr id="88" name="text-98">
            <a:extLst xmlns:a="http://schemas.openxmlformats.org/drawingml/2006/main">
              <a:ext uri="{FF2B5EF4-FFF2-40B4-BE49-F238E27FC236}">
                <a16:creationId xmlns:a16="http://schemas.microsoft.com/office/drawing/2014/main" id="{7F445DDF-DCB8-45D7-9C48-0E390335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859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 i="0">
                <a:solidFill>
                  <a:srgbClr val="087E8B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1" i="0">
                <a:solidFill>
                  <a:srgbClr val="087E8B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1" i="0">
                <a:solidFill>
                  <a:srgbClr val="087E8B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1" i="0">
                <a:solidFill>
                  <a:srgbClr val="087E8B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1" i="0">
                <a:solidFill>
                  <a:srgbClr val="087E8B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1" i="0">
                <a:solidFill>
                  <a:srgbClr val="087E8B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1" i="0">
                <a:solidFill>
                  <a:srgbClr val="087E8B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1" i="0">
                <a:solidFill>
                  <a:srgbClr val="087E8B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1" i="0">
                <a:solidFill>
                  <a:srgbClr val="087E8B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1" i="0">
                <a:solidFill>
                  <a:srgbClr val="087E8B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087E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087E8B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89" name="text-99">
            <a:extLst xmlns:a="http://schemas.openxmlformats.org/drawingml/2006/main">
              <a:ext uri="{FF2B5EF4-FFF2-40B4-BE49-F238E27FC236}">
                <a16:creationId xmlns:a16="http://schemas.microsoft.com/office/drawing/2014/main" id="{76C9EB83-1F06-45A2-9ED4-022542B1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85925"/>
            <a:ext cx="3105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50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50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50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50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50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50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50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50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50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12334F"/>
                </a:solidFill>
                <a:latin typeface="Calibri"/>
                <a:ea typeface="Calibri"/>
                <a:cs typeface="Calibri"/>
              </a:rPr>
              <a:t>FROM IDEA TO ACTION</a:t>
            </a:r>
          </a:p>
        </p:txBody>
      </p:sp>
      <p:sp>
        <p:nvSpPr>
          <p:cNvPr id="92" name="text-102">
            <a:extLst xmlns:a="http://schemas.openxmlformats.org/drawingml/2006/main">
              <a:ext uri="{FF2B5EF4-FFF2-40B4-BE49-F238E27FC236}">
                <a16:creationId xmlns:a16="http://schemas.microsoft.com/office/drawing/2014/main" id="{9B184517-2870-4F45-BA46-D67F6E0E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24325"/>
            <a:ext cx="3409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945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defPPr>
            <a:lvl1pPr algn="ctr">
              <a:defRPr sz="945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1pPr>
            <a:lvl2pPr algn="ctr">
              <a:defRPr sz="945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2pPr>
            <a:lvl3pPr algn="ctr">
              <a:defRPr sz="945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3pPr>
            <a:lvl4pPr algn="ctr">
              <a:defRPr sz="945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4pPr>
            <a:lvl5pPr algn="ctr">
              <a:defRPr sz="945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5pPr>
            <a:lvl6pPr algn="ctr">
              <a:defRPr sz="945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6pPr>
            <a:lvl7pPr algn="ctr">
              <a:defRPr sz="945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7pPr>
            <a:lvl8pPr algn="ctr">
              <a:defRPr sz="945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8pPr>
            <a:lvl9pPr algn="ctr">
              <a:defRPr sz="945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 sz="945" b="0" i="0">
                <a:solidFill>
                  <a:srgbClr val="597081"/>
                </a:solidFill>
                <a:latin typeface="Calibri"/>
                <a:ea typeface="Calibri"/>
                <a:cs typeface="Calibri"/>
              </a:defRPr>
            </a:pPr>
            <a:r>
              <a:rPr sz="945" b="0" i="0">
                <a:solidFill>
                  <a:srgbClr val="597081"/>
                </a:solidFill>
                <a:latin typeface="Calibri"/>
                <a:ea typeface="Calibri"/>
                <a:cs typeface="Calibri"/>
              </a:rPr>
              <a:t>DOFBOT · sorting station · Z19 · laptop host</a:t>
            </a:r>
          </a:p>
        </p:txBody>
      </p:sp>
      <p:sp>
        <p:nvSpPr>
          <p:cNvPr id="93" name="text-103">
            <a:extLst xmlns:a="http://schemas.openxmlformats.org/drawingml/2006/main">
              <a:ext uri="{FF2B5EF4-FFF2-40B4-BE49-F238E27FC236}">
                <a16:creationId xmlns:a16="http://schemas.microsoft.com/office/drawing/2014/main" id="{A59F8012-11FF-4E55-8073-0143137D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38650"/>
            <a:ext cx="3409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12334F"/>
                </a:solidFill>
                <a:latin typeface="Calibri"/>
                <a:ea typeface="Calibri"/>
                <a:cs typeface="Calibri"/>
              </a:rPr>
              <a:t>PLATFORM AT A GLANCE</a:t>
            </a:r>
          </a:p>
        </p:txBody>
      </p:sp>
      <p:sp>
        <p:nvSpPr>
          <p:cNvPr id="94" name="text-104">
            <a:extLst xmlns:a="http://schemas.openxmlformats.org/drawingml/2006/main">
              <a:ext uri="{FF2B5EF4-FFF2-40B4-BE49-F238E27FC236}">
                <a16:creationId xmlns:a16="http://schemas.microsoft.com/office/drawing/2014/main" id="{35DAA585-D1ED-49C3-B9C6-9B1701FE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14875"/>
            <a:ext cx="5429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3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073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073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073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073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073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073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073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073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073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073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pPr>
            <a:r>
              <a:rPr sz="1073" b="1" i="0">
                <a:solidFill>
                  <a:srgbClr val="12334F"/>
                </a:solidFill>
                <a:latin typeface="Calibri"/>
                <a:ea typeface="Calibri"/>
                <a:cs typeface="Calibri"/>
              </a:rPr>
              <a:t>Core</a:t>
            </a:r>
          </a:p>
        </p:txBody>
      </p:sp>
      <p:sp>
        <p:nvSpPr>
          <p:cNvPr id="95" name="text-105">
            <a:extLst xmlns:a="http://schemas.openxmlformats.org/drawingml/2006/main">
              <a:ext uri="{FF2B5EF4-FFF2-40B4-BE49-F238E27FC236}">
                <a16:creationId xmlns:a16="http://schemas.microsoft.com/office/drawing/2014/main" id="{8E2DCB38-1578-409F-B4E4-F0AE357B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14875"/>
            <a:ext cx="285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3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defPPr>
            <a:lvl1pPr algn="l">
              <a:defRPr sz="1073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073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073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073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073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073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073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073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073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073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pPr>
            <a:r>
              <a:rPr sz="1073" b="0" i="0">
                <a:solidFill>
                  <a:srgbClr val="233C4E"/>
                </a:solidFill>
                <a:latin typeface="Calibri"/>
                <a:ea typeface="Calibri"/>
                <a:cs typeface="Calibri"/>
              </a:rPr>
              <a:t>ALINX Z19 · Zynq UltraScale+ MPSoC</a:t>
            </a:r>
          </a:p>
        </p:txBody>
      </p:sp>
      <p:sp>
        <p:nvSpPr>
          <p:cNvPr id="96" name="text-106">
            <a:extLst xmlns:a="http://schemas.openxmlformats.org/drawingml/2006/main">
              <a:ext uri="{FF2B5EF4-FFF2-40B4-BE49-F238E27FC236}">
                <a16:creationId xmlns:a16="http://schemas.microsoft.com/office/drawing/2014/main" id="{011479F0-0EC7-4FF6-9ADA-686A72DD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14900"/>
            <a:ext cx="5429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3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073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073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073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073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073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073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073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073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073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073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pPr>
            <a:r>
              <a:rPr sz="1073" b="1" i="0">
                <a:solidFill>
                  <a:srgbClr val="12334F"/>
                </a:solidFill>
                <a:latin typeface="Calibri"/>
                <a:ea typeface="Calibri"/>
                <a:cs typeface="Calibri"/>
              </a:rPr>
              <a:t>Compute</a:t>
            </a:r>
          </a:p>
        </p:txBody>
      </p:sp>
      <p:sp>
        <p:nvSpPr>
          <p:cNvPr id="97" name="text-107">
            <a:extLst xmlns:a="http://schemas.openxmlformats.org/drawingml/2006/main">
              <a:ext uri="{FF2B5EF4-FFF2-40B4-BE49-F238E27FC236}">
                <a16:creationId xmlns:a16="http://schemas.microsoft.com/office/drawing/2014/main" id="{4D8FB3FC-D7BF-4EA7-BC84-98966126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914900"/>
            <a:ext cx="285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3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defPPr>
            <a:lvl1pPr algn="l">
              <a:defRPr sz="1073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073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073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073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073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073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073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073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073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073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pPr>
            <a:r>
              <a:rPr sz="1073" b="0" i="0">
                <a:solidFill>
                  <a:srgbClr val="233C4E"/>
                </a:solidFill>
                <a:latin typeface="Calibri"/>
                <a:ea typeface="Calibri"/>
                <a:cs typeface="Calibri"/>
              </a:rPr>
              <a:t>PS + PL + Ubuntu VM</a:t>
            </a:r>
          </a:p>
        </p:txBody>
      </p:sp>
      <p:sp>
        <p:nvSpPr>
          <p:cNvPr id="98" name="text-108">
            <a:extLst xmlns:a="http://schemas.openxmlformats.org/drawingml/2006/main">
              <a:ext uri="{FF2B5EF4-FFF2-40B4-BE49-F238E27FC236}">
                <a16:creationId xmlns:a16="http://schemas.microsoft.com/office/drawing/2014/main" id="{9F45ED0B-9324-4DB6-B3DC-BDB16D87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114925"/>
            <a:ext cx="5429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3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073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073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073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073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073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073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073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073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073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073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pPr>
            <a:r>
              <a:rPr sz="1073" b="1" i="0">
                <a:solidFill>
                  <a:srgbClr val="12334F"/>
                </a:solidFill>
                <a:latin typeface="Calibri"/>
                <a:ea typeface="Calibri"/>
                <a:cs typeface="Calibri"/>
              </a:rPr>
              <a:t>Devices</a:t>
            </a:r>
          </a:p>
        </p:txBody>
      </p:sp>
      <p:sp>
        <p:nvSpPr>
          <p:cNvPr id="99" name="text-109">
            <a:extLst xmlns:a="http://schemas.openxmlformats.org/drawingml/2006/main">
              <a:ext uri="{FF2B5EF4-FFF2-40B4-BE49-F238E27FC236}">
                <a16:creationId xmlns:a16="http://schemas.microsoft.com/office/drawing/2014/main" id="{E4AC5F07-2BE1-4C91-BB9C-DA4C1D47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114925"/>
            <a:ext cx="285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3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defPPr>
            <a:lvl1pPr algn="l">
              <a:defRPr sz="1073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073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073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073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073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073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073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073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073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073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pPr>
            <a:r>
              <a:rPr sz="1073" b="0" i="0">
                <a:solidFill>
                  <a:srgbClr val="233C4E"/>
                </a:solidFill>
                <a:latin typeface="Calibri"/>
                <a:ea typeface="Calibri"/>
                <a:cs typeface="Calibri"/>
              </a:rPr>
              <a:t>Camera · voice input · DOFBOT</a:t>
            </a:r>
          </a:p>
        </p:txBody>
      </p:sp>
      <p:sp>
        <p:nvSpPr>
          <p:cNvPr id="100" name="text-110">
            <a:extLst xmlns:a="http://schemas.openxmlformats.org/drawingml/2006/main">
              <a:ext uri="{FF2B5EF4-FFF2-40B4-BE49-F238E27FC236}">
                <a16:creationId xmlns:a16="http://schemas.microsoft.com/office/drawing/2014/main" id="{ED2B6303-8D4E-451F-8D01-0A3C3E2C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14950"/>
            <a:ext cx="5429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3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073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073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073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073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073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073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073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073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073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073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pPr>
            <a:r>
              <a:rPr sz="1073" b="1" i="0">
                <a:solidFill>
                  <a:srgbClr val="12334F"/>
                </a:solidFill>
                <a:latin typeface="Calibri"/>
                <a:ea typeface="Calibri"/>
                <a:cs typeface="Calibri"/>
              </a:rPr>
              <a:t>Stack</a:t>
            </a:r>
          </a:p>
        </p:txBody>
      </p:sp>
      <p:sp>
        <p:nvSpPr>
          <p:cNvPr id="101" name="text-111">
            <a:extLst xmlns:a="http://schemas.openxmlformats.org/drawingml/2006/main">
              <a:ext uri="{FF2B5EF4-FFF2-40B4-BE49-F238E27FC236}">
                <a16:creationId xmlns:a16="http://schemas.microsoft.com/office/drawing/2014/main" id="{2F9A64D1-DBB5-44ED-8BDD-2C6BCE44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314950"/>
            <a:ext cx="285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3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defPPr>
            <a:lvl1pPr algn="l">
              <a:defRPr sz="1073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073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073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073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073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073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073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073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073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073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pPr>
            <a:r>
              <a:rPr sz="1073" b="0" i="0">
                <a:solidFill>
                  <a:srgbClr val="233C4E"/>
                </a:solidFill>
                <a:latin typeface="Calibri"/>
                <a:ea typeface="Calibri"/>
                <a:cs typeface="Calibri"/>
              </a:rPr>
              <a:t>Linux · Python · YOLO · Vosk</a:t>
            </a:r>
          </a:p>
        </p:txBody>
      </p:sp>
      <p:sp>
        <p:nvSpPr>
          <p:cNvPr id="102" name="text-112">
            <a:extLst xmlns:a="http://schemas.openxmlformats.org/drawingml/2006/main">
              <a:ext uri="{FF2B5EF4-FFF2-40B4-BE49-F238E27FC236}">
                <a16:creationId xmlns:a16="http://schemas.microsoft.com/office/drawing/2014/main" id="{90375AF6-71FD-4DF0-A4F6-242DE73B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19750"/>
            <a:ext cx="3409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27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27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27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27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27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27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27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27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27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12334F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12334F"/>
                </a:solidFill>
                <a:latin typeface="Calibri"/>
                <a:ea typeface="Calibri"/>
                <a:cs typeface="Calibri"/>
              </a:rPr>
              <a:t>DEMONSTRATED &amp; DELIVERED</a:t>
            </a:r>
          </a:p>
        </p:txBody>
      </p:sp>
      <p:sp>
        <p:nvSpPr>
          <p:cNvPr id="103" name="text-113">
            <a:extLst xmlns:a="http://schemas.openxmlformats.org/drawingml/2006/main">
              <a:ext uri="{FF2B5EF4-FFF2-40B4-BE49-F238E27FC236}">
                <a16:creationId xmlns:a16="http://schemas.microsoft.com/office/drawing/2014/main" id="{5DB74EDB-15DA-409E-9A24-2E72BCB9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95975"/>
            <a:ext cx="3409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defPPr>
            <a:lvl1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pPr>
            <a:r>
              <a: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rPr>
              <a:t>Fixed-station VM / DOFBOT demonstration.</a:t>
            </a:r>
          </a:p>
        </p:txBody>
      </p:sp>
      <p:sp>
        <p:nvSpPr>
          <p:cNvPr id="104" name="text-114">
            <a:extLst xmlns:a="http://schemas.openxmlformats.org/drawingml/2006/main">
              <a:ext uri="{FF2B5EF4-FFF2-40B4-BE49-F238E27FC236}">
                <a16:creationId xmlns:a16="http://schemas.microsoft.com/office/drawing/2014/main" id="{8B7B0248-83FE-41A0-A027-1D99CC7C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76950"/>
            <a:ext cx="3409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defPPr>
            <a:lvl1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pPr>
            <a:r>
              <a: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rPr>
              <a:t>Z19 PS/PL source modules with clear interfaces.</a:t>
            </a:r>
          </a:p>
        </p:txBody>
      </p:sp>
      <p:sp>
        <p:nvSpPr>
          <p:cNvPr id="105" name="text-115">
            <a:extLst xmlns:a="http://schemas.openxmlformats.org/drawingml/2006/main">
              <a:ext uri="{FF2B5EF4-FFF2-40B4-BE49-F238E27FC236}">
                <a16:creationId xmlns:a16="http://schemas.microsoft.com/office/drawing/2014/main" id="{7809E9BC-2BCC-45E3-B868-AAA60352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257925"/>
            <a:ext cx="3409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defPPr>
            <a:lvl1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defRPr>
            </a:pPr>
            <a:r>
              <a:rPr sz="1020" b="0" i="0">
                <a:solidFill>
                  <a:srgbClr val="233C4E"/>
                </a:solidFill>
                <a:latin typeface="Calibri"/>
                <a:ea typeface="Calibri"/>
                <a:cs typeface="Calibri"/>
              </a:rPr>
              <a:t>Next: joint board integration and wider object coverage.</a:t>
            </a:r>
          </a:p>
        </p:txBody>
      </p:sp>
      <p:sp>
        <p:nvSpPr>
          <p:cNvPr id="107" name="text-117">
            <a:extLst xmlns:a="http://schemas.openxmlformats.org/drawingml/2006/main">
              <a:ext uri="{FF2B5EF4-FFF2-40B4-BE49-F238E27FC236}">
                <a16:creationId xmlns:a16="http://schemas.microsoft.com/office/drawing/2014/main" id="{1F644A10-2D5F-4DC2-B10F-44B67FFB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600825"/>
            <a:ext cx="647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 algn="l">
              <a:defRPr sz="13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algn="l">
              <a:defRPr sz="13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 algn="l">
              <a:defRPr sz="13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 algn="l">
              <a:defRPr sz="13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 algn="l">
              <a:defRPr sz="13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 algn="l">
              <a:defRPr sz="13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 algn="l">
              <a:defRPr sz="13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 algn="l">
              <a:defRPr sz="13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 algn="l">
              <a:defRPr sz="13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Make sorting visible. Make engineering tangible.</a:t>
            </a:r>
          </a:p>
        </p:txBody>
      </p:sp>
      <p:sp>
        <p:nvSpPr>
          <p:cNvPr id="108" name="text-118">
            <a:extLst xmlns:a="http://schemas.openxmlformats.org/drawingml/2006/main">
              <a:ext uri="{FF2B5EF4-FFF2-40B4-BE49-F238E27FC236}">
                <a16:creationId xmlns:a16="http://schemas.microsoft.com/office/drawing/2014/main" id="{50AC6559-41CA-4BA1-BF58-989F37D3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629400"/>
            <a:ext cx="521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05" b="0" i="0">
                <a:solidFill>
                  <a:srgbClr val="DAEAF3"/>
                </a:solidFill>
                <a:latin typeface="Calibri"/>
                <a:ea typeface="Calibri"/>
                <a:cs typeface="Calibri"/>
              </a:defRPr>
            </a:defPPr>
            <a:lvl1pPr algn="r">
              <a:defRPr sz="1005" b="0" i="0">
                <a:solidFill>
                  <a:srgbClr val="DAEAF3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005" b="0" i="0">
                <a:solidFill>
                  <a:srgbClr val="DAEAF3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005" b="0" i="0">
                <a:solidFill>
                  <a:srgbClr val="DAEAF3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005" b="0" i="0">
                <a:solidFill>
                  <a:srgbClr val="DAEAF3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005" b="0" i="0">
                <a:solidFill>
                  <a:srgbClr val="DAEAF3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005" b="0" i="0">
                <a:solidFill>
                  <a:srgbClr val="DAEAF3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005" b="0" i="0">
                <a:solidFill>
                  <a:srgbClr val="DAEAF3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005" b="0" i="0">
                <a:solidFill>
                  <a:srgbClr val="DAEAF3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005" b="0" i="0">
                <a:solidFill>
                  <a:srgbClr val="DAEAF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r">
              <a:defRPr sz="1005" b="0" i="0">
                <a:solidFill>
                  <a:srgbClr val="DAEAF3"/>
                </a:solidFill>
                <a:latin typeface="Calibri"/>
                <a:ea typeface="Calibri"/>
                <a:cs typeface="Calibri"/>
              </a:defRPr>
            </a:pPr>
            <a:r>
              <a:rPr sz="1005" b="0" i="0">
                <a:solidFill>
                  <a:srgbClr val="DAEAF3"/>
                </a:solidFill>
                <a:latin typeface="Calibri"/>
                <a:ea typeface="Calibri"/>
                <a:cs typeface="Calibri"/>
              </a:rPr>
              <a:t>Campus sustainability  /  Community outreach  /  Embedded education</a:t>
            </a:r>
          </a:p>
        </p:txBody>
      </p:sp>
    </p:spTree>
    <p:extLst>
      <p:ext uri="{BB962C8B-B14F-4D97-AF65-F5344CB8AC3E}">
        <p14:creationId xmlns:p14="http://schemas.microsoft.com/office/powerpoint/2010/main" val="1777069741"/>
      </p:ext>
    </p:extLst>
  </p:cSld>
</p:sld>
</file>

<file path=ppt/theme/theme1.xml><?xml version="1.0" encoding="utf-8"?>
<a:theme xmlns:a="http://schemas.openxmlformats.org/drawingml/2006/main" name="AMD Corporate Template_Dark">
  <a:themeElements>
    <a:clrScheme name="AMD Corporate">
      <a:dk1>
        <a:srgbClr val="000000"/>
      </a:dk1>
      <a:lt1>
        <a:srgbClr val="FFFFFF"/>
      </a:lt1>
      <a:dk2>
        <a:srgbClr val="5E5E5E"/>
      </a:dk2>
      <a:lt2>
        <a:srgbClr val="9D9FA2"/>
      </a:lt2>
      <a:accent1>
        <a:srgbClr val="636466"/>
      </a:accent1>
      <a:accent2>
        <a:srgbClr val="9D9FA2"/>
      </a:accent2>
      <a:accent3>
        <a:srgbClr val="EAEAEA"/>
      </a:accent3>
      <a:accent4>
        <a:srgbClr val="F26522"/>
      </a:accent4>
      <a:accent5>
        <a:srgbClr val="ED1C24"/>
      </a:accent5>
      <a:accent6>
        <a:srgbClr val="007C97"/>
      </a:accent6>
      <a:hlink>
        <a:srgbClr val="D5D5D5"/>
      </a:hlink>
      <a:folHlink>
        <a:srgbClr val="A9A9A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MD Corporat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>
          <a:solidFill>
            <a:schemeClr val="phClr"/>
          </a:solidFill>
          <a:prstDash val="solid"/>
        </a:ln>
        <a:ln w="10795">
          <a:solidFill>
            <a:schemeClr val="phClr"/>
          </a:solidFill>
          <a:prstDash val="solid"/>
        </a:ln>
        <a:ln w="17145">
          <a:solidFill>
            <a:schemeClr val="phClr">
              <a:shade val="95000"/>
              <a:satMod val="150000"/>
              <a:alpha val="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2026-10-30T13:59:34.7190000Z</dcterms:created>
  <dcterms:modified xsi:type="dcterms:W3CDTF">2026-10-30T13:59:34.7200000Z</dcterms:modified>
</coreProperties>
</file>